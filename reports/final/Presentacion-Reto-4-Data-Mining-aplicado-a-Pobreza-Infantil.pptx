
<file path=[Content_Types].xml><?xml version="1.0" encoding="utf-8"?>
<Types xmlns="http://schemas.openxmlformats.org/package/2006/content-types">
  <Default Extension="mp3" ContentType="audio/m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84" r:id="rId6"/>
    <p:sldId id="277" r:id="rId7"/>
    <p:sldId id="287" r:id="rId8"/>
    <p:sldId id="282" r:id="rId9"/>
    <p:sldId id="290" r:id="rId10"/>
    <p:sldId id="262" r:id="rId11"/>
    <p:sldId id="263" r:id="rId12"/>
    <p:sldId id="264" r:id="rId13"/>
    <p:sldId id="258" r:id="rId14"/>
    <p:sldId id="288" r:id="rId15"/>
    <p:sldId id="286" r:id="rId16"/>
    <p:sldId id="291" r:id="rId17"/>
    <p:sldId id="292" r:id="rId18"/>
    <p:sldId id="275" r:id="rId19"/>
    <p:sldId id="293" r:id="rId20"/>
    <p:sldId id="294" r:id="rId21"/>
    <p:sldId id="295" r:id="rId22"/>
    <p:sldId id="296" r:id="rId23"/>
    <p:sldId id="297" r:id="rId24"/>
    <p:sldId id="289" r:id="rId25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6" name="Autor" initials="A" lastIdx="0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110" y="1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0" d="100"/>
          <a:sy n="90" d="100"/>
        </p:scale>
        <p:origin x="377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B5B42BD-8D3B-4B09-9029-8C63687D5D9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E2EC764-34EA-4620-8CF9-F605D96BC33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A20B032-4FC5-443B-B858-DB4B3088BEE9}" type="datetime1">
              <a:rPr lang="es-ES" smtClean="0"/>
              <a:t>17/09/2026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C1FA7CC-A0A2-4292-AA1A-FFA1D3AC968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6C9D8F1-C311-48E0-A5EA-6AC70E14D0F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F827EC1-36E0-417D-8141-8D14DF1BDFD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58522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FBB1E8-FFB4-4CE9-8FFB-DCF486277706}" type="datetime1">
              <a:rPr lang="es-ES" smtClean="0"/>
              <a:pPr/>
              <a:t>17/09/2026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5BAF473-2665-42A7-89E3-C7BA7EB58D12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9354891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35BAF473-2665-42A7-89E3-C7BA7EB58D12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333973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8474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44544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1842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6678787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32599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3817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98849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54219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087270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63655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37041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5BAF473-2665-42A7-89E3-C7BA7EB58D12}" type="slidenum">
              <a:rPr lang="es-ES" smtClean="0"/>
              <a:t>21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0824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8610600" y="0"/>
            <a:ext cx="35814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465970"/>
            <a:ext cx="5739882" cy="2387600"/>
          </a:xfrm>
        </p:spPr>
        <p:txBody>
          <a:bodyPr rtlCol="0" anchor="b">
            <a:normAutofit/>
          </a:bodyPr>
          <a:lstStyle>
            <a:lvl1pPr algn="l">
              <a:defRPr sz="54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38200" y="5159827"/>
            <a:ext cx="5739882" cy="783773"/>
          </a:xfrm>
        </p:spPr>
        <p:txBody>
          <a:bodyPr rtlCol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595562"/>
            <a:ext cx="5684520" cy="3181034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38404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0" y="3840480"/>
            <a:ext cx="4175760" cy="20878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0" y="5928360"/>
            <a:ext cx="4175760" cy="929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1" name="Marcador de fecha 4">
            <a:extLst>
              <a:ext uri="{FF2B5EF4-FFF2-40B4-BE49-F238E27FC236}">
                <a16:creationId xmlns:a16="http://schemas.microsoft.com/office/drawing/2014/main" id="{2FF674D8-A0B1-4D60-AB18-A733984F70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22" name="Marcador de pie de página 5">
            <a:extLst>
              <a:ext uri="{FF2B5EF4-FFF2-40B4-BE49-F238E27FC236}">
                <a16:creationId xmlns:a16="http://schemas.microsoft.com/office/drawing/2014/main" id="{7E0AFFFB-7406-40B3-B2D5-18288BEA5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23" name="Marcador de número de diapositiva 6">
            <a:extLst>
              <a:ext uri="{FF2B5EF4-FFF2-40B4-BE49-F238E27FC236}">
                <a16:creationId xmlns:a16="http://schemas.microsoft.com/office/drawing/2014/main" id="{0D2AF818-9E4C-485A-8EA3-3BD5917D5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325"/>
            <a:ext cx="568452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95562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 smtClean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8016240" y="0"/>
            <a:ext cx="2401389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10417629" y="0"/>
            <a:ext cx="177437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B54E59D1-0F68-4FA3-944D-63FCD442DA66}"/>
              </a:ext>
            </a:extLst>
          </p:cNvPr>
          <p:cNvSpPr/>
          <p:nvPr userDrawn="1"/>
        </p:nvSpPr>
        <p:spPr>
          <a:xfrm flipV="1">
            <a:off x="11800114" y="0"/>
            <a:ext cx="39188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Marcador de contenido 2">
            <a:extLst>
              <a:ext uri="{FF2B5EF4-FFF2-40B4-BE49-F238E27FC236}">
                <a16:creationId xmlns:a16="http://schemas.microsoft.com/office/drawing/2014/main" id="{620C3808-5997-40A2-83EF-E2136C52EFE1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4529818"/>
            <a:ext cx="5684520" cy="441552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s-ES" noProof="0"/>
              <a:t>Haga clic para modificar los estilos de texto del patrón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EAD9A34D-2599-4944-8F4B-6953690367E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8200" y="3040514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Marcador de contenido 2">
            <a:extLst>
              <a:ext uri="{FF2B5EF4-FFF2-40B4-BE49-F238E27FC236}">
                <a16:creationId xmlns:a16="http://schemas.microsoft.com/office/drawing/2014/main" id="{4D123A04-698E-4E6B-BB2C-C4FCA2CFBB9A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838200" y="4993888"/>
            <a:ext cx="5684520" cy="1106942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4" name="Marcador de fecha 4">
            <a:extLst>
              <a:ext uri="{FF2B5EF4-FFF2-40B4-BE49-F238E27FC236}">
                <a16:creationId xmlns:a16="http://schemas.microsoft.com/office/drawing/2014/main" id="{8BC6F0B0-7E88-4658-BED0-B126DDE797A0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15" name="Marcador de pie de página 5">
            <a:extLst>
              <a:ext uri="{FF2B5EF4-FFF2-40B4-BE49-F238E27FC236}">
                <a16:creationId xmlns:a16="http://schemas.microsoft.com/office/drawing/2014/main" id="{1B454B68-B7BD-4197-BF00-63964D7634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16" name="Marcador de número de diapositiva 6">
            <a:extLst>
              <a:ext uri="{FF2B5EF4-FFF2-40B4-BE49-F238E27FC236}">
                <a16:creationId xmlns:a16="http://schemas.microsoft.com/office/drawing/2014/main" id="{BAA42605-D696-484D-B611-62CB3140EA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55682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uatro contenido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C2A3DF3F-0A0C-4018-A9D5-6DE43170F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742" y="822325"/>
            <a:ext cx="9329058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B2E9ED8E-C27B-434B-BABA-E66DF12C5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24742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CA9EBAE4-D52F-453F-8270-8B6E097489BF}"/>
              </a:ext>
            </a:extLst>
          </p:cNvPr>
          <p:cNvSpPr/>
          <p:nvPr userDrawn="1"/>
        </p:nvSpPr>
        <p:spPr>
          <a:xfrm>
            <a:off x="0" y="-1"/>
            <a:ext cx="674914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9FC540D-D53A-486F-96EA-3488254DA8F1}"/>
              </a:ext>
            </a:extLst>
          </p:cNvPr>
          <p:cNvSpPr/>
          <p:nvPr userDrawn="1"/>
        </p:nvSpPr>
        <p:spPr>
          <a:xfrm flipV="1">
            <a:off x="674914" y="0"/>
            <a:ext cx="67491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Marcador de contenido 2">
            <a:extLst>
              <a:ext uri="{FF2B5EF4-FFF2-40B4-BE49-F238E27FC236}">
                <a16:creationId xmlns:a16="http://schemas.microsoft.com/office/drawing/2014/main" id="{AA5699F8-E412-4D90-AD9E-5A933F03D67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7019111" y="259556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5" name="Marcador de contenido 2">
            <a:extLst>
              <a:ext uri="{FF2B5EF4-FFF2-40B4-BE49-F238E27FC236}">
                <a16:creationId xmlns:a16="http://schemas.microsoft.com/office/drawing/2014/main" id="{3C6CD4EE-A2DF-4227-8E8E-061E1811B3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2024742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6" name="Marcador de contenido 2">
            <a:extLst>
              <a:ext uri="{FF2B5EF4-FFF2-40B4-BE49-F238E27FC236}">
                <a16:creationId xmlns:a16="http://schemas.microsoft.com/office/drawing/2014/main" id="{2BD7E863-25A7-4713-A3A0-9A5F432FE00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019111" y="4446132"/>
            <a:ext cx="4334689" cy="474211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solidFill>
                  <a:schemeClr val="accent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7" name="Marcador de contenido 2">
            <a:extLst>
              <a:ext uri="{FF2B5EF4-FFF2-40B4-BE49-F238E27FC236}">
                <a16:creationId xmlns:a16="http://schemas.microsoft.com/office/drawing/2014/main" id="{13EEC52D-9939-4E0F-B26E-6287735877F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024740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8" name="Marcador de contenido 2">
            <a:extLst>
              <a:ext uri="{FF2B5EF4-FFF2-40B4-BE49-F238E27FC236}">
                <a16:creationId xmlns:a16="http://schemas.microsoft.com/office/drawing/2014/main" id="{3F6A9263-89CC-446B-AA55-FA0F0180A70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7019109" y="306977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9" name="Marcador de contenido 2">
            <a:extLst>
              <a:ext uri="{FF2B5EF4-FFF2-40B4-BE49-F238E27FC236}">
                <a16:creationId xmlns:a16="http://schemas.microsoft.com/office/drawing/2014/main" id="{73A562DC-F1FD-4766-B507-CC08FBA1EE6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2024740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0" name="Marcador de contenido 2">
            <a:extLst>
              <a:ext uri="{FF2B5EF4-FFF2-40B4-BE49-F238E27FC236}">
                <a16:creationId xmlns:a16="http://schemas.microsoft.com/office/drawing/2014/main" id="{B4A99B91-CC4B-4964-B372-94ED4BB9A772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7019109" y="4920343"/>
            <a:ext cx="4334689" cy="1219201"/>
          </a:xfrm>
        </p:spPr>
        <p:txBody>
          <a:bodyPr rtlCol="0"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21" name="Marcador de fecha 4">
            <a:extLst>
              <a:ext uri="{FF2B5EF4-FFF2-40B4-BE49-F238E27FC236}">
                <a16:creationId xmlns:a16="http://schemas.microsoft.com/office/drawing/2014/main" id="{5413A312-123E-4C7A-864E-C120568D6037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22" name="Marcador de pie de página 5">
            <a:extLst>
              <a:ext uri="{FF2B5EF4-FFF2-40B4-BE49-F238E27FC236}">
                <a16:creationId xmlns:a16="http://schemas.microsoft.com/office/drawing/2014/main" id="{F3306EE3-B07E-48BA-A4EE-EAFE9A458C3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23" name="Marcador de número de diapositiva 6">
            <a:extLst>
              <a:ext uri="{FF2B5EF4-FFF2-40B4-BE49-F238E27FC236}">
                <a16:creationId xmlns:a16="http://schemas.microsoft.com/office/drawing/2014/main" id="{6A049DF0-5C6A-4542-841D-C03F623048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82153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de la izquierd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>
            <a:extLst>
              <a:ext uri="{FF2B5EF4-FFF2-40B4-BE49-F238E27FC236}">
                <a16:creationId xmlns:a16="http://schemas.microsoft.com/office/drawing/2014/main" id="{79BF9015-BE24-42C7-B20B-596FE57DE33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73480" y="3864426"/>
            <a:ext cx="5684520" cy="737734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editar el título</a:t>
            </a:r>
          </a:p>
        </p:txBody>
      </p:sp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37368391-D103-4780-88AC-9746C0359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3480" y="4879291"/>
            <a:ext cx="5684520" cy="1325563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AA0B4B24-EFFA-49CE-88D9-B8E2ECE17208}"/>
              </a:ext>
            </a:extLst>
          </p:cNvPr>
          <p:cNvSpPr/>
          <p:nvPr userDrawn="1"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A94AD39F-C2DD-4F6A-8AB9-EA5E0024EB1C}"/>
              </a:ext>
            </a:extLst>
          </p:cNvPr>
          <p:cNvSpPr/>
          <p:nvPr userDrawn="1"/>
        </p:nvSpPr>
        <p:spPr>
          <a:xfrm flipV="1">
            <a:off x="8016240" y="0"/>
            <a:ext cx="41757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4" name="Marcador de fecha 4">
            <a:extLst>
              <a:ext uri="{FF2B5EF4-FFF2-40B4-BE49-F238E27FC236}">
                <a16:creationId xmlns:a16="http://schemas.microsoft.com/office/drawing/2014/main" id="{38ABA718-1AEF-413D-964E-FA9CA8EDD8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EE83AD3-B30F-42CE-99A0-D50CDB9C951F}"/>
              </a:ext>
            </a:extLst>
          </p:cNvPr>
          <p:cNvSpPr/>
          <p:nvPr userDrawn="1"/>
        </p:nvSpPr>
        <p:spPr>
          <a:xfrm>
            <a:off x="8011886" y="3429000"/>
            <a:ext cx="4180114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5" name="Marcador de pie de página 5">
            <a:extLst>
              <a:ext uri="{FF2B5EF4-FFF2-40B4-BE49-F238E27FC236}">
                <a16:creationId xmlns:a16="http://schemas.microsoft.com/office/drawing/2014/main" id="{BCCB3A69-6840-43C8-94EB-C3EF41DB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16" name="Marcador de número de diapositiva 6">
            <a:extLst>
              <a:ext uri="{FF2B5EF4-FFF2-40B4-BE49-F238E27FC236}">
                <a16:creationId xmlns:a16="http://schemas.microsoft.com/office/drawing/2014/main" id="{B374594B-C272-477C-B1DB-A1E214CE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6946433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rar texto con borde superior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B217CA4-9423-45D5-AD1D-2415B600F1DD}"/>
              </a:ext>
            </a:extLst>
          </p:cNvPr>
          <p:cNvSpPr/>
          <p:nvPr userDrawn="1"/>
        </p:nvSpPr>
        <p:spPr>
          <a:xfrm>
            <a:off x="0" y="0"/>
            <a:ext cx="12192000" cy="10814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F525B7F-8292-4AE6-B9B3-F6C0621F1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E86D52-9DFB-4D69-BF39-2C163B394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0B91A39-D816-4317-AA23-55510F9D35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81607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entrar text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3740" y="1957701"/>
            <a:ext cx="5684520" cy="1305562"/>
          </a:xfrm>
        </p:spPr>
        <p:txBody>
          <a:bodyPr rtlCol="0" anchor="b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  <a:endParaRPr lang="es-ES" noProof="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3740" y="3429000"/>
            <a:ext cx="5684520" cy="2347596"/>
          </a:xfrm>
        </p:spPr>
        <p:txBody>
          <a:bodyPr rtlCol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600">
                <a:solidFill>
                  <a:schemeClr val="accent4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D7B514D1-FFF2-4784-BC98-5C209566EB25}"/>
              </a:ext>
            </a:extLst>
          </p:cNvPr>
          <p:cNvSpPr/>
          <p:nvPr userDrawn="1"/>
        </p:nvSpPr>
        <p:spPr>
          <a:xfrm>
            <a:off x="0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F775047-FCCD-48A9-AE4B-E4619B3FA069}"/>
              </a:ext>
            </a:extLst>
          </p:cNvPr>
          <p:cNvSpPr/>
          <p:nvPr userDrawn="1"/>
        </p:nvSpPr>
        <p:spPr>
          <a:xfrm>
            <a:off x="10276114" y="0"/>
            <a:ext cx="191588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8" name="Marcador de fecha 4">
            <a:extLst>
              <a:ext uri="{FF2B5EF4-FFF2-40B4-BE49-F238E27FC236}">
                <a16:creationId xmlns:a16="http://schemas.microsoft.com/office/drawing/2014/main" id="{E57E5351-59BE-4BC8-83D8-BABF23172D8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9" name="Marcador de pie de página 5">
            <a:extLst>
              <a:ext uri="{FF2B5EF4-FFF2-40B4-BE49-F238E27FC236}">
                <a16:creationId xmlns:a16="http://schemas.microsoft.com/office/drawing/2014/main" id="{7F2C600D-D61A-47D7-88A2-66D269DC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10" name="Marcador de número de diapositiva 6">
            <a:extLst>
              <a:ext uri="{FF2B5EF4-FFF2-40B4-BE49-F238E27FC236}">
                <a16:creationId xmlns:a16="http://schemas.microsoft.com/office/drawing/2014/main" id="{E257B2EA-F7F2-4B84-A989-76BF9D0F8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55526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atro contenidos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0"/>
            <a:ext cx="12192000" cy="19814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56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1</a:t>
            </a:r>
          </a:p>
        </p:txBody>
      </p:sp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6208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2</a:t>
            </a:r>
          </a:p>
        </p:txBody>
      </p:sp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4660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3</a:t>
            </a:r>
          </a:p>
        </p:txBody>
      </p:sp>
      <p:sp>
        <p:nvSpPr>
          <p:cNvPr id="15" name="Marcador de texto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311207" y="4553832"/>
            <a:ext cx="2105186" cy="678667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4</a:t>
            </a:r>
          </a:p>
        </p:txBody>
      </p:sp>
      <p:sp>
        <p:nvSpPr>
          <p:cNvPr id="21" name="Marcador de posición de imagen en línea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1090200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s-ES" noProof="0"/>
              <a:t>Haga clic en el icono para agregar una imagen en línea</a:t>
            </a:r>
          </a:p>
        </p:txBody>
      </p:sp>
      <p:sp>
        <p:nvSpPr>
          <p:cNvPr id="22" name="Marcador de posición de imagen en línea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3935025" y="3080256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s-ES" noProof="0"/>
              <a:t>Haga clic en el icono para agregar una imagen en línea</a:t>
            </a:r>
          </a:p>
        </p:txBody>
      </p:sp>
      <p:sp>
        <p:nvSpPr>
          <p:cNvPr id="23" name="Marcador de posición de imagen en línea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779850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s-ES" noProof="0"/>
              <a:t>Haga clic en el icono para agregar una imagen en línea</a:t>
            </a:r>
          </a:p>
        </p:txBody>
      </p:sp>
      <p:sp>
        <p:nvSpPr>
          <p:cNvPr id="24" name="Marcador de posición de imagen en línea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625612" y="3079044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s-ES" noProof="0"/>
              <a:t>Haga clic en el icono para agregar una imagen en línea</a:t>
            </a:r>
          </a:p>
        </p:txBody>
      </p:sp>
      <p:sp>
        <p:nvSpPr>
          <p:cNvPr id="25" name="Marcador de fecha 4">
            <a:extLst>
              <a:ext uri="{FF2B5EF4-FFF2-40B4-BE49-F238E27FC236}">
                <a16:creationId xmlns:a16="http://schemas.microsoft.com/office/drawing/2014/main" id="{8B2D064B-EC57-4EA9-96ED-918E61BFD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26" name="Marcador de pie de página 5">
            <a:extLst>
              <a:ext uri="{FF2B5EF4-FFF2-40B4-BE49-F238E27FC236}">
                <a16:creationId xmlns:a16="http://schemas.microsoft.com/office/drawing/2014/main" id="{B2A70FF9-0C32-4443-A788-56E40DD78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27" name="Marcador de número de diapositiva 6">
            <a:extLst>
              <a:ext uri="{FF2B5EF4-FFF2-40B4-BE49-F238E27FC236}">
                <a16:creationId xmlns:a16="http://schemas.microsoft.com/office/drawing/2014/main" id="{D51176E4-E898-4497-ACF7-72CFF75FE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15236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nido y cuatro imágenes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FBCCBC51-CB80-441C-9628-70A3BFA8C31A}"/>
              </a:ext>
            </a:extLst>
          </p:cNvPr>
          <p:cNvSpPr/>
          <p:nvPr userDrawn="1"/>
        </p:nvSpPr>
        <p:spPr>
          <a:xfrm>
            <a:off x="0" y="3429000"/>
            <a:ext cx="4876800" cy="3429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90D749F-1509-46B1-B8ED-3506AC084799}"/>
              </a:ext>
            </a:extLst>
          </p:cNvPr>
          <p:cNvSpPr/>
          <p:nvPr userDrawn="1"/>
        </p:nvSpPr>
        <p:spPr>
          <a:xfrm>
            <a:off x="0" y="1"/>
            <a:ext cx="4876800" cy="3429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200400" cy="2621139"/>
          </a:xfrm>
        </p:spPr>
        <p:txBody>
          <a:bodyPr rtlCol="0" anchor="b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07336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1</a:t>
            </a:r>
          </a:p>
        </p:txBody>
      </p:sp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24518" y="21314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2</a:t>
            </a:r>
          </a:p>
        </p:txBody>
      </p:sp>
      <p:sp>
        <p:nvSpPr>
          <p:cNvPr id="13" name="Marcador de texto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0741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3</a:t>
            </a:r>
          </a:p>
        </p:txBody>
      </p:sp>
      <p:sp>
        <p:nvSpPr>
          <p:cNvPr id="15" name="Marcador de texto 8">
            <a:extLst>
              <a:ext uri="{FF2B5EF4-FFF2-40B4-BE49-F238E27FC236}">
                <a16:creationId xmlns:a16="http://schemas.microsoft.com/office/drawing/2014/main" id="{9CB783F5-ED01-464E-9185-F05CFA0E84C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19318" y="4874657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2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4</a:t>
            </a:r>
          </a:p>
        </p:txBody>
      </p:sp>
      <p:sp>
        <p:nvSpPr>
          <p:cNvPr id="21" name="Marcador de posición de imagen en línea 20">
            <a:extLst>
              <a:ext uri="{FF2B5EF4-FFF2-40B4-BE49-F238E27FC236}">
                <a16:creationId xmlns:a16="http://schemas.microsoft.com/office/drawing/2014/main" id="{D25CFAE9-00ED-42E0-BC9A-37BA858979B3}"/>
              </a:ext>
            </a:extLst>
          </p:cNvPr>
          <p:cNvSpPr>
            <a:spLocks noGrp="1"/>
          </p:cNvSpPr>
          <p:nvPr>
            <p:ph type="clipArt" sz="quarter" idx="48"/>
          </p:nvPr>
        </p:nvSpPr>
        <p:spPr>
          <a:xfrm>
            <a:off x="6387961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s-ES" noProof="0"/>
              <a:t>Haga clic en el icono para agregar una imagen en línea</a:t>
            </a:r>
          </a:p>
        </p:txBody>
      </p:sp>
      <p:sp>
        <p:nvSpPr>
          <p:cNvPr id="22" name="Marcador de posición de imagen en línea 20">
            <a:extLst>
              <a:ext uri="{FF2B5EF4-FFF2-40B4-BE49-F238E27FC236}">
                <a16:creationId xmlns:a16="http://schemas.microsoft.com/office/drawing/2014/main" id="{280D5B0E-3D2E-4146-9670-B596E8EBD129}"/>
              </a:ext>
            </a:extLst>
          </p:cNvPr>
          <p:cNvSpPr>
            <a:spLocks noGrp="1"/>
          </p:cNvSpPr>
          <p:nvPr>
            <p:ph type="clipArt" sz="quarter" idx="49"/>
          </p:nvPr>
        </p:nvSpPr>
        <p:spPr>
          <a:xfrm>
            <a:off x="9238736" y="643469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s-ES" noProof="0"/>
              <a:t>Haga clic en el icono para agregar una imagen en línea</a:t>
            </a:r>
          </a:p>
        </p:txBody>
      </p:sp>
      <p:sp>
        <p:nvSpPr>
          <p:cNvPr id="23" name="Marcador de posición de imagen en línea 20">
            <a:extLst>
              <a:ext uri="{FF2B5EF4-FFF2-40B4-BE49-F238E27FC236}">
                <a16:creationId xmlns:a16="http://schemas.microsoft.com/office/drawing/2014/main" id="{03D89936-E0D7-4618-9E72-EC1467568C21}"/>
              </a:ext>
            </a:extLst>
          </p:cNvPr>
          <p:cNvSpPr>
            <a:spLocks noGrp="1"/>
          </p:cNvSpPr>
          <p:nvPr>
            <p:ph type="clipArt" sz="quarter" idx="50"/>
          </p:nvPr>
        </p:nvSpPr>
        <p:spPr>
          <a:xfrm>
            <a:off x="6387961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s-ES" noProof="0"/>
              <a:t>Haga clic en el icono para agregar una imagen en línea</a:t>
            </a:r>
          </a:p>
        </p:txBody>
      </p:sp>
      <p:sp>
        <p:nvSpPr>
          <p:cNvPr id="24" name="Marcador de posición de imagen en línea 20">
            <a:extLst>
              <a:ext uri="{FF2B5EF4-FFF2-40B4-BE49-F238E27FC236}">
                <a16:creationId xmlns:a16="http://schemas.microsoft.com/office/drawing/2014/main" id="{08A2E99E-9F83-4666-BD35-056C88AEBFB1}"/>
              </a:ext>
            </a:extLst>
          </p:cNvPr>
          <p:cNvSpPr>
            <a:spLocks noGrp="1"/>
          </p:cNvSpPr>
          <p:nvPr>
            <p:ph type="clipArt" sz="quarter" idx="51"/>
          </p:nvPr>
        </p:nvSpPr>
        <p:spPr>
          <a:xfrm>
            <a:off x="9233723" y="3385457"/>
            <a:ext cx="1476375" cy="1474788"/>
          </a:xfrm>
        </p:spPr>
        <p:txBody>
          <a:bodyPr rtlCol="0">
            <a:normAutofit/>
          </a:bodyPr>
          <a:lstStyle>
            <a:lvl1pPr>
              <a:defRPr sz="1600"/>
            </a:lvl1pPr>
          </a:lstStyle>
          <a:p>
            <a:pPr rtl="0"/>
            <a:r>
              <a:rPr lang="es-ES" noProof="0"/>
              <a:t>Haga clic en el icono para agregar una imagen en línea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8A1CBAE-F2E5-4866-A865-C55E6257349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8200" y="4112198"/>
            <a:ext cx="3200400" cy="1395974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DA996B3F-2EC7-495F-920F-B21C55D9428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07336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1</a:t>
            </a:r>
          </a:p>
        </p:txBody>
      </p:sp>
      <p:sp>
        <p:nvSpPr>
          <p:cNvPr id="17" name="Marcador de texto 8">
            <a:extLst>
              <a:ext uri="{FF2B5EF4-FFF2-40B4-BE49-F238E27FC236}">
                <a16:creationId xmlns:a16="http://schemas.microsoft.com/office/drawing/2014/main" id="{8F06E2A5-B7ED-4E1B-9B77-DFF175FA257A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924518" y="25775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2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D12A97F1-04F3-48EA-99B9-030059505D9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60741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3</a:t>
            </a:r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8884A8E9-B6DB-4ADD-A85B-593F618E457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919318" y="5320795"/>
            <a:ext cx="2105186" cy="365126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Viñeta 4</a:t>
            </a:r>
          </a:p>
        </p:txBody>
      </p:sp>
      <p:sp>
        <p:nvSpPr>
          <p:cNvPr id="28" name="Marcador de texto 4">
            <a:extLst>
              <a:ext uri="{FF2B5EF4-FFF2-40B4-BE49-F238E27FC236}">
                <a16:creationId xmlns:a16="http://schemas.microsoft.com/office/drawing/2014/main" id="{19E1EA5F-9EF0-45C3-94DD-6DF64F4DFA15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838201" y="5511642"/>
            <a:ext cx="3200400" cy="844707"/>
          </a:xfrm>
        </p:spPr>
        <p:txBody>
          <a:bodyPr rtlCol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30" name="Marcador de fecha 4">
            <a:extLst>
              <a:ext uri="{FF2B5EF4-FFF2-40B4-BE49-F238E27FC236}">
                <a16:creationId xmlns:a16="http://schemas.microsoft.com/office/drawing/2014/main" id="{5EBE65FE-7980-4861-93F3-178D1931E7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31" name="Marcador de pie de página 5">
            <a:extLst>
              <a:ext uri="{FF2B5EF4-FFF2-40B4-BE49-F238E27FC236}">
                <a16:creationId xmlns:a16="http://schemas.microsoft.com/office/drawing/2014/main" id="{5941D839-A1FC-4620-8485-F69D66D5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32" name="Marcador de número de diapositiva 6">
            <a:extLst>
              <a:ext uri="{FF2B5EF4-FFF2-40B4-BE49-F238E27FC236}">
                <a16:creationId xmlns:a16="http://schemas.microsoft.com/office/drawing/2014/main" id="{B3B8613F-19BE-4CDB-BC4C-C321B4B8F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1855734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ganigram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5037"/>
            <a:ext cx="4573200" cy="1325563"/>
          </a:xfrm>
        </p:spPr>
        <p:txBody>
          <a:bodyPr rtlCol="0"/>
          <a:lstStyle>
            <a:lvl1pPr algn="l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9" name="Marcador de texto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021635" y="2039382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4" name="Marcador de texto 8">
            <a:extLst>
              <a:ext uri="{FF2B5EF4-FFF2-40B4-BE49-F238E27FC236}">
                <a16:creationId xmlns:a16="http://schemas.microsoft.com/office/drawing/2014/main" id="{16CC17AD-6E52-42E9-989B-FB086C64DF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021635" y="2408260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D36B0D72-6C95-4E3A-A679-D94CB154306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043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7" name="Marcador de texto 8">
            <a:extLst>
              <a:ext uri="{FF2B5EF4-FFF2-40B4-BE49-F238E27FC236}">
                <a16:creationId xmlns:a16="http://schemas.microsoft.com/office/drawing/2014/main" id="{7E6E1537-8CF9-4C86-8E25-29BFFDAFDDD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043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18" name="Marcador de texto 8">
            <a:extLst>
              <a:ext uri="{FF2B5EF4-FFF2-40B4-BE49-F238E27FC236}">
                <a16:creationId xmlns:a16="http://schemas.microsoft.com/office/drawing/2014/main" id="{755E9ED2-721A-416D-AFA6-B57E6B8D8C5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2757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0DE1C87C-07E3-42FC-9B43-81D789BF794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2757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20" name="Marcador de texto 8">
            <a:extLst>
              <a:ext uri="{FF2B5EF4-FFF2-40B4-BE49-F238E27FC236}">
                <a16:creationId xmlns:a16="http://schemas.microsoft.com/office/drawing/2014/main" id="{8556C5D2-9D30-44C4-95EA-DA672356995D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471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5" name="Marcador de texto 8">
            <a:extLst>
              <a:ext uri="{FF2B5EF4-FFF2-40B4-BE49-F238E27FC236}">
                <a16:creationId xmlns:a16="http://schemas.microsoft.com/office/drawing/2014/main" id="{BB8DD76A-44FE-4266-9CE3-FC74ACF61470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471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26" name="Marcador de texto 8">
            <a:extLst>
              <a:ext uri="{FF2B5EF4-FFF2-40B4-BE49-F238E27FC236}">
                <a16:creationId xmlns:a16="http://schemas.microsoft.com/office/drawing/2014/main" id="{BB7FB830-D9B0-43D8-B279-D8A3831911C7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615407" y="4758255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7" name="Marcador de texto 8">
            <a:extLst>
              <a:ext uri="{FF2B5EF4-FFF2-40B4-BE49-F238E27FC236}">
                <a16:creationId xmlns:a16="http://schemas.microsoft.com/office/drawing/2014/main" id="{DA699CE9-2DCD-4D59-B359-D7D3511A2158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615407" y="5127133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28" name="Marcador de texto 8">
            <a:extLst>
              <a:ext uri="{FF2B5EF4-FFF2-40B4-BE49-F238E27FC236}">
                <a16:creationId xmlns:a16="http://schemas.microsoft.com/office/drawing/2014/main" id="{5B0C1AF9-7ECA-4F02-B71D-97228D05B03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329407" y="4770420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9" name="Marcador de texto 8">
            <a:extLst>
              <a:ext uri="{FF2B5EF4-FFF2-40B4-BE49-F238E27FC236}">
                <a16:creationId xmlns:a16="http://schemas.microsoft.com/office/drawing/2014/main" id="{FE515F87-B08B-4273-9427-B4477D68E33E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329407" y="5139298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02353FBD-19BF-45E4-A6F5-4217CDAAA52E}"/>
              </a:ext>
            </a:extLst>
          </p:cNvPr>
          <p:cNvCxnSpPr/>
          <p:nvPr userDrawn="1"/>
        </p:nvCxnSpPr>
        <p:spPr>
          <a:xfrm>
            <a:off x="1513114" y="3875317"/>
            <a:ext cx="9111343" cy="0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Marcador de fecha 4">
            <a:extLst>
              <a:ext uri="{FF2B5EF4-FFF2-40B4-BE49-F238E27FC236}">
                <a16:creationId xmlns:a16="http://schemas.microsoft.com/office/drawing/2014/main" id="{BA4BCF05-CDFF-42C0-A406-D762B747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42" name="Marcador de pie de página 5">
            <a:extLst>
              <a:ext uri="{FF2B5EF4-FFF2-40B4-BE49-F238E27FC236}">
                <a16:creationId xmlns:a16="http://schemas.microsoft.com/office/drawing/2014/main" id="{FE043986-6365-4919-A13C-B1086DCFF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43" name="Marcador de número de diapositiva 6">
            <a:extLst>
              <a:ext uri="{FF2B5EF4-FFF2-40B4-BE49-F238E27FC236}">
                <a16:creationId xmlns:a16="http://schemas.microsoft.com/office/drawing/2014/main" id="{4FD22B22-DA9C-4B3F-A67F-D07291278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  <p:cxnSp>
        <p:nvCxnSpPr>
          <p:cNvPr id="47" name="Conector recto 46">
            <a:extLst>
              <a:ext uri="{FF2B5EF4-FFF2-40B4-BE49-F238E27FC236}">
                <a16:creationId xmlns:a16="http://schemas.microsoft.com/office/drawing/2014/main" id="{AFAB3CE1-D027-49AE-8023-7D6E330C7E2D}"/>
              </a:ext>
            </a:extLst>
          </p:cNvPr>
          <p:cNvCxnSpPr>
            <a:cxnSpLocks/>
          </p:cNvCxnSpPr>
          <p:nvPr userDrawn="1"/>
        </p:nvCxnSpPr>
        <p:spPr>
          <a:xfrm flipV="1">
            <a:off x="6096000" y="2852057"/>
            <a:ext cx="0" cy="1643743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 recto 48">
            <a:extLst>
              <a:ext uri="{FF2B5EF4-FFF2-40B4-BE49-F238E27FC236}">
                <a16:creationId xmlns:a16="http://schemas.microsoft.com/office/drawing/2014/main" id="{6B59BE6F-06DF-4031-A366-9BF6A53377C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611592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recto 53">
            <a:extLst>
              <a:ext uri="{FF2B5EF4-FFF2-40B4-BE49-F238E27FC236}">
                <a16:creationId xmlns:a16="http://schemas.microsoft.com/office/drawing/2014/main" id="{588442AB-AF81-4C81-B0CE-584EE410EB92}"/>
              </a:ext>
            </a:extLst>
          </p:cNvPr>
          <p:cNvCxnSpPr>
            <a:cxnSpLocks/>
          </p:cNvCxnSpPr>
          <p:nvPr userDrawn="1"/>
        </p:nvCxnSpPr>
        <p:spPr>
          <a:xfrm flipV="1">
            <a:off x="1513114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Conector recto 55">
            <a:extLst>
              <a:ext uri="{FF2B5EF4-FFF2-40B4-BE49-F238E27FC236}">
                <a16:creationId xmlns:a16="http://schemas.microsoft.com/office/drawing/2014/main" id="{35F27884-729D-4CA6-A08A-92EBC733CCB5}"/>
              </a:ext>
            </a:extLst>
          </p:cNvPr>
          <p:cNvCxnSpPr>
            <a:cxnSpLocks/>
          </p:cNvCxnSpPr>
          <p:nvPr userDrawn="1"/>
        </p:nvCxnSpPr>
        <p:spPr>
          <a:xfrm flipV="1">
            <a:off x="3815938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recto 57">
            <a:extLst>
              <a:ext uri="{FF2B5EF4-FFF2-40B4-BE49-F238E27FC236}">
                <a16:creationId xmlns:a16="http://schemas.microsoft.com/office/drawing/2014/main" id="{A1F7E5A1-BEA5-447F-BED5-E18F7A1D9A37}"/>
              </a:ext>
            </a:extLst>
          </p:cNvPr>
          <p:cNvCxnSpPr>
            <a:cxnSpLocks/>
          </p:cNvCxnSpPr>
          <p:nvPr userDrawn="1"/>
        </p:nvCxnSpPr>
        <p:spPr>
          <a:xfrm flipV="1">
            <a:off x="8381011" y="3872164"/>
            <a:ext cx="0" cy="623636"/>
          </a:xfrm>
          <a:prstGeom prst="line">
            <a:avLst/>
          </a:prstGeom>
          <a:ln w="285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5084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 a la derecha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2376805"/>
            <a:ext cx="5013960" cy="1325563"/>
          </a:xfrm>
        </p:spPr>
        <p:txBody>
          <a:bodyPr rtlCol="0"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4150042"/>
            <a:ext cx="5013960" cy="1961198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 rtl="0"/>
            <a:r>
              <a:rPr lang="es-ES" noProof="0"/>
              <a:t>Haga clic para modificar los estilos de texto del patrón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9197FF6-6321-41EE-A0C4-DEC0761A3C01}"/>
              </a:ext>
            </a:extLst>
          </p:cNvPr>
          <p:cNvSpPr/>
          <p:nvPr userDrawn="1"/>
        </p:nvSpPr>
        <p:spPr>
          <a:xfrm>
            <a:off x="0" y="0"/>
            <a:ext cx="417576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545EFDD-D97D-44D9-8A6D-0FACEE0964B3}"/>
              </a:ext>
            </a:extLst>
          </p:cNvPr>
          <p:cNvSpPr/>
          <p:nvPr userDrawn="1"/>
        </p:nvSpPr>
        <p:spPr>
          <a:xfrm flipV="1">
            <a:off x="371856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7" name="Marcador de fecha 4">
            <a:extLst>
              <a:ext uri="{FF2B5EF4-FFF2-40B4-BE49-F238E27FC236}">
                <a16:creationId xmlns:a16="http://schemas.microsoft.com/office/drawing/2014/main" id="{9ECA7294-D791-453A-AEDA-C7BC2C83BA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3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8" name="Marcador de pie de página 5">
            <a:extLst>
              <a:ext uri="{FF2B5EF4-FFF2-40B4-BE49-F238E27FC236}">
                <a16:creationId xmlns:a16="http://schemas.microsoft.com/office/drawing/2014/main" id="{E3F008A3-FE03-4B55-99DE-C66C7215F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10" name="Marcador de número de diapositiva 6">
            <a:extLst>
              <a:ext uri="{FF2B5EF4-FFF2-40B4-BE49-F238E27FC236}">
                <a16:creationId xmlns:a16="http://schemas.microsoft.com/office/drawing/2014/main" id="{561AA2A7-90C9-48FA-A998-4CB16275A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4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030503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cier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>
            <a:extLst>
              <a:ext uri="{FF2B5EF4-FFF2-40B4-BE49-F238E27FC236}">
                <a16:creationId xmlns:a16="http://schemas.microsoft.com/office/drawing/2014/main" id="{A3215B1E-B289-4C56-BCC0-2AB8CF93E2A1}"/>
              </a:ext>
            </a:extLst>
          </p:cNvPr>
          <p:cNvSpPr/>
          <p:nvPr userDrawn="1"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2313571"/>
            <a:ext cx="4419600" cy="1659716"/>
          </a:xfrm>
        </p:spPr>
        <p:txBody>
          <a:bodyPr rtlCol="0" anchor="ctr">
            <a:normAutofit/>
          </a:bodyPr>
          <a:lstStyle>
            <a:lvl1pPr algn="ctr">
              <a:defRPr sz="5400"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 noProof="0"/>
              <a:t>Haga clic para editar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772402" y="2348318"/>
            <a:ext cx="2743200" cy="1659715"/>
          </a:xfrm>
        </p:spPr>
        <p:txBody>
          <a:bodyPr rtlCol="0"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4D64503-659B-472D-ABF8-01D077EB0D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209C12-0CED-4CD5-B463-885A793CC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 rtlCol="0"/>
          <a:lstStyle>
            <a:lvl1pPr algn="r"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8F03DA-3AA9-44AC-8E2B-D53B8EBEA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sz="900">
                <a:solidFill>
                  <a:schemeClr val="accent1">
                    <a:lumMod val="40000"/>
                    <a:lumOff val="60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3909684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cabezado de la secció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8434EB92-62CF-4273-86A4-59223DABDBB8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9A25F60-1F94-4EB8-AECE-53F9C3EBF6AC}"/>
              </a:ext>
            </a:extLst>
          </p:cNvPr>
          <p:cNvSpPr/>
          <p:nvPr userDrawn="1"/>
        </p:nvSpPr>
        <p:spPr>
          <a:xfrm>
            <a:off x="0" y="6509657"/>
            <a:ext cx="12192000" cy="348343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s-ES" noProof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0"/>
            <a:ext cx="10515600" cy="3080657"/>
          </a:xfrm>
        </p:spPr>
        <p:txBody>
          <a:bodyPr rtlCol="0" anchor="ctr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l equipo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algn="ctr">
              <a:defRPr b="1">
                <a:solidFill>
                  <a:schemeClr val="accent4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6" name="Marcador de posición de imagen 15">
            <a:extLst>
              <a:ext uri="{FF2B5EF4-FFF2-40B4-BE49-F238E27FC236}">
                <a16:creationId xmlns:a16="http://schemas.microsoft.com/office/drawing/2014/main" id="{A74BA5A7-7918-4C65-BAAB-14B3A1E2B4E4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152161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s-ES" noProof="0"/>
              <a:t>Haga clic en el icono para agregar una imagen</a:t>
            </a:r>
          </a:p>
        </p:txBody>
      </p:sp>
      <p:sp>
        <p:nvSpPr>
          <p:cNvPr id="7" name="Marcador de posición de imagen 15">
            <a:extLst>
              <a:ext uri="{FF2B5EF4-FFF2-40B4-BE49-F238E27FC236}">
                <a16:creationId xmlns:a16="http://schemas.microsoft.com/office/drawing/2014/main" id="{0C5DF728-AFC5-467F-86BF-45BBD7787257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07938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s-ES" noProof="0"/>
              <a:t>Haga clic en el icono para agregar una imagen</a:t>
            </a:r>
          </a:p>
        </p:txBody>
      </p:sp>
      <p:sp>
        <p:nvSpPr>
          <p:cNvPr id="8" name="Marcador de posición de imagen 15">
            <a:extLst>
              <a:ext uri="{FF2B5EF4-FFF2-40B4-BE49-F238E27FC236}">
                <a16:creationId xmlns:a16="http://schemas.microsoft.com/office/drawing/2014/main" id="{BBFE7B80-0990-424B-A099-BFECB5508302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63715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s-ES" noProof="0"/>
              <a:t>Haga clic en el icono para agregar una imagen</a:t>
            </a:r>
          </a:p>
        </p:txBody>
      </p:sp>
      <p:sp>
        <p:nvSpPr>
          <p:cNvPr id="9" name="Marcador de posición de imagen 15">
            <a:extLst>
              <a:ext uri="{FF2B5EF4-FFF2-40B4-BE49-F238E27FC236}">
                <a16:creationId xmlns:a16="http://schemas.microsoft.com/office/drawing/2014/main" id="{5B4A0F3D-F23F-4072-9FF5-6CFE888CE1E0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4922" y="2601972"/>
            <a:ext cx="1476000" cy="1476000"/>
          </a:xfrm>
          <a:noFill/>
          <a:ln w="396875" cap="sq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0000" tIns="0" rIns="180000" bIns="0" numCol="1" spcCol="0" rtlCol="0" fromWordArt="0" anchor="ctr" anchorCtr="1" forceAA="0" compatLnSpc="1">
            <a:prstTxWarp prst="textNoShape">
              <a:avLst/>
            </a:prstTxWarp>
            <a:noAutofit/>
          </a:bodyPr>
          <a:lstStyle>
            <a:lvl1pPr marL="0" indent="0" algn="ctr">
              <a:buNone/>
              <a:defRPr lang="en-ZA" sz="1100" i="1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266700" lvl="0" indent="-266700" algn="ctr" rtl="0"/>
            <a:r>
              <a:rPr lang="es-ES" noProof="0"/>
              <a:t>Haga clic en el icono para agregar una imagen</a:t>
            </a:r>
          </a:p>
        </p:txBody>
      </p:sp>
      <p:sp>
        <p:nvSpPr>
          <p:cNvPr id="11" name="Marcador de texto 8">
            <a:extLst>
              <a:ext uri="{FF2B5EF4-FFF2-40B4-BE49-F238E27FC236}">
                <a16:creationId xmlns:a16="http://schemas.microsoft.com/office/drawing/2014/main" id="{14F97182-060B-42D4-9BD6-AADEBB4691F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214950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2" name="Marcador de texto 8">
            <a:extLst>
              <a:ext uri="{FF2B5EF4-FFF2-40B4-BE49-F238E27FC236}">
                <a16:creationId xmlns:a16="http://schemas.microsoft.com/office/drawing/2014/main" id="{0C32DCEC-D4CF-4F91-ABA7-22726A1E9925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214950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16" name="Marcador de texto 8">
            <a:extLst>
              <a:ext uri="{FF2B5EF4-FFF2-40B4-BE49-F238E27FC236}">
                <a16:creationId xmlns:a16="http://schemas.microsoft.com/office/drawing/2014/main" id="{04BECAB1-5EBD-4BC7-8F7A-8B4CA80746C4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764623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17" name="Marcador de texto 8">
            <a:extLst>
              <a:ext uri="{FF2B5EF4-FFF2-40B4-BE49-F238E27FC236}">
                <a16:creationId xmlns:a16="http://schemas.microsoft.com/office/drawing/2014/main" id="{8D671F83-5A25-4513-86E5-FFBF3BF3106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764623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19" name="Marcador de texto 8">
            <a:extLst>
              <a:ext uri="{FF2B5EF4-FFF2-40B4-BE49-F238E27FC236}">
                <a16:creationId xmlns:a16="http://schemas.microsoft.com/office/drawing/2014/main" id="{F6EE3639-A148-489C-A695-7EA2313AEF3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4296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0" name="Marcador de texto 8">
            <a:extLst>
              <a:ext uri="{FF2B5EF4-FFF2-40B4-BE49-F238E27FC236}">
                <a16:creationId xmlns:a16="http://schemas.microsoft.com/office/drawing/2014/main" id="{BB55BB21-9247-450C-9A9D-D2AD9161E10F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314296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22" name="Marcador de texto 8">
            <a:extLst>
              <a:ext uri="{FF2B5EF4-FFF2-40B4-BE49-F238E27FC236}">
                <a16:creationId xmlns:a16="http://schemas.microsoft.com/office/drawing/2014/main" id="{934A7F7B-4591-45E6-AF17-EC81162B733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863969" y="4624131"/>
            <a:ext cx="2105186" cy="365125"/>
          </a:xfrm>
        </p:spPr>
        <p:txBody>
          <a:bodyPr rtlCol="0"/>
          <a:lstStyle>
            <a:lvl1pPr marL="0" indent="0" algn="ctr">
              <a:buFont typeface="Arial" panose="020B0604020202020204" pitchFamily="34" charset="0"/>
              <a:buNone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Nombre</a:t>
            </a:r>
          </a:p>
        </p:txBody>
      </p:sp>
      <p:sp>
        <p:nvSpPr>
          <p:cNvPr id="23" name="Marcador de texto 8">
            <a:extLst>
              <a:ext uri="{FF2B5EF4-FFF2-40B4-BE49-F238E27FC236}">
                <a16:creationId xmlns:a16="http://schemas.microsoft.com/office/drawing/2014/main" id="{730702B6-2129-4FAB-8868-58B59C11FF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863969" y="4993009"/>
            <a:ext cx="2105186" cy="365125"/>
          </a:xfrm>
        </p:spPr>
        <p:txBody>
          <a:bodyPr rtlCol="0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1200">
                <a:solidFill>
                  <a:schemeClr val="accent4"/>
                </a:solidFill>
                <a:latin typeface="+mj-lt"/>
              </a:defRPr>
            </a:lvl1pPr>
          </a:lstStyle>
          <a:p>
            <a:pPr lvl="0" rtl="0"/>
            <a:r>
              <a:rPr lang="es-ES" noProof="0"/>
              <a:t>Título</a:t>
            </a:r>
          </a:p>
        </p:txBody>
      </p:sp>
      <p:sp>
        <p:nvSpPr>
          <p:cNvPr id="24" name="Marcador de fecha 4">
            <a:extLst>
              <a:ext uri="{FF2B5EF4-FFF2-40B4-BE49-F238E27FC236}">
                <a16:creationId xmlns:a16="http://schemas.microsoft.com/office/drawing/2014/main" id="{AD0AC7DB-F500-41DA-8326-3ED61B33F9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25" name="Marcador de pie de página 5">
            <a:extLst>
              <a:ext uri="{FF2B5EF4-FFF2-40B4-BE49-F238E27FC236}">
                <a16:creationId xmlns:a16="http://schemas.microsoft.com/office/drawing/2014/main" id="{798612DF-528A-42D7-8634-25EFF6159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26" name="Marcador de número de diapositiva 6">
            <a:extLst>
              <a:ext uri="{FF2B5EF4-FFF2-40B4-BE49-F238E27FC236}">
                <a16:creationId xmlns:a16="http://schemas.microsoft.com/office/drawing/2014/main" id="{1E3817B4-A707-4ACC-9CAC-E32B5E0A4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>
            <a:lvl1pPr>
              <a:defRPr sz="900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pPr rtl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663862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29/7/20XX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es-ES" noProof="0" smtClean="0"/>
              <a:t>‹Nº›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7" r:id="rId3"/>
    <p:sldLayoutId id="2147483674" r:id="rId4"/>
    <p:sldLayoutId id="2147483671" r:id="rId5"/>
    <p:sldLayoutId id="2147483666" r:id="rId6"/>
    <p:sldLayoutId id="2147483669" r:id="rId7"/>
    <p:sldLayoutId id="2147483661" r:id="rId8"/>
    <p:sldLayoutId id="2147483676" r:id="rId9"/>
    <p:sldLayoutId id="2147483670" r:id="rId10"/>
    <p:sldLayoutId id="2147483667" r:id="rId11"/>
    <p:sldLayoutId id="2147483673" r:id="rId12"/>
    <p:sldLayoutId id="2147483651" r:id="rId13"/>
    <p:sldLayoutId id="2147483672" r:id="rId1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audio" Target="../media/media3.mp3"/><Relationship Id="rId1" Type="http://schemas.microsoft.com/office/2007/relationships/media" Target="../media/media3.mp3"/><Relationship Id="rId6" Type="http://schemas.openxmlformats.org/officeDocument/2006/relationships/image" Target="../media/image2.png"/><Relationship Id="rId5" Type="http://schemas.openxmlformats.org/officeDocument/2006/relationships/image" Target="../media/image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audio" Target="../media/media4.mp3"/><Relationship Id="rId1" Type="http://schemas.microsoft.com/office/2007/relationships/media" Target="../media/media4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5.mp3"/><Relationship Id="rId1" Type="http://schemas.microsoft.com/office/2007/relationships/media" Target="../media/media5.mp3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audio" Target="../media/media6.mp3"/><Relationship Id="rId1" Type="http://schemas.microsoft.com/office/2007/relationships/media" Target="../media/media6.mp3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audio" Target="../media/media7.mp3"/><Relationship Id="rId1" Type="http://schemas.microsoft.com/office/2007/relationships/media" Target="../media/media7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media8.mp3"/><Relationship Id="rId1" Type="http://schemas.microsoft.com/office/2007/relationships/media" Target="../media/media8.mp3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9.mp3"/><Relationship Id="rId1" Type="http://schemas.microsoft.com/office/2007/relationships/media" Target="../media/media9.mp3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audio" Target="../media/media10.mp3"/><Relationship Id="rId1" Type="http://schemas.microsoft.com/office/2007/relationships/media" Target="../media/media10.mp3"/><Relationship Id="rId6" Type="http://schemas.openxmlformats.org/officeDocument/2006/relationships/image" Target="../media/image7.png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audio" Target="../media/media11.mp3"/><Relationship Id="rId1" Type="http://schemas.microsoft.com/office/2007/relationships/media" Target="../media/media11.mp3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2.mp3"/><Relationship Id="rId1" Type="http://schemas.microsoft.com/office/2007/relationships/media" Target="../media/media12.mp3"/><Relationship Id="rId6" Type="http://schemas.openxmlformats.org/officeDocument/2006/relationships/image" Target="../media/image2.png"/><Relationship Id="rId5" Type="http://schemas.openxmlformats.org/officeDocument/2006/relationships/image" Target="../media/image9.png"/><Relationship Id="rId4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3.mp3"/><Relationship Id="rId1" Type="http://schemas.microsoft.com/office/2007/relationships/media" Target="../media/media13.mp3"/><Relationship Id="rId5" Type="http://schemas.openxmlformats.org/officeDocument/2006/relationships/image" Target="../media/image2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audio" Target="../media/media14.mp3"/><Relationship Id="rId1" Type="http://schemas.microsoft.com/office/2007/relationships/media" Target="../media/media14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5.mp3"/><Relationship Id="rId1" Type="http://schemas.microsoft.com/office/2007/relationships/media" Target="../media/media15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6.mp3"/><Relationship Id="rId1" Type="http://schemas.microsoft.com/office/2007/relationships/media" Target="../media/media16.mp3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7.mp3"/><Relationship Id="rId1" Type="http://schemas.microsoft.com/office/2007/relationships/media" Target="../media/media17.mp3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8.mp3"/><Relationship Id="rId1" Type="http://schemas.microsoft.com/office/2007/relationships/media" Target="../media/media18.mp3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audio" Target="../media/media19.mp3"/><Relationship Id="rId1" Type="http://schemas.microsoft.com/office/2007/relationships/media" Target="../media/media19.mp3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audio" Target="../media/media20.mp3"/><Relationship Id="rId1" Type="http://schemas.microsoft.com/office/2007/relationships/media" Target="../media/media20.mp3"/><Relationship Id="rId5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20316" y="130627"/>
            <a:ext cx="9709483" cy="783773"/>
          </a:xfrm>
        </p:spPr>
        <p:txBody>
          <a:bodyPr rtlCol="0">
            <a:normAutofit fontScale="90000"/>
          </a:bodyPr>
          <a:lstStyle/>
          <a:p>
            <a:pPr latinLnBrk="1"/>
            <a:r>
              <a:rPr lang="es-ES" b="0" dirty="0"/>
              <a:t>🌍 </a:t>
            </a:r>
            <a:r>
              <a:rPr lang="es-ES" sz="3200" b="0" dirty="0"/>
              <a:t>Reto 4: Data </a:t>
            </a:r>
            <a:r>
              <a:rPr lang="es-ES" sz="3200" b="0" dirty="0" err="1"/>
              <a:t>Mining</a:t>
            </a:r>
            <a:r>
              <a:rPr lang="es-ES" sz="3200" b="0" dirty="0"/>
              <a:t> aplicado a la Pobreza Infantil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C5C5C2E2-E01D-C9DE-40BF-D97C76266693}"/>
              </a:ext>
            </a:extLst>
          </p:cNvPr>
          <p:cNvSpPr txBox="1"/>
          <p:nvPr/>
        </p:nvSpPr>
        <p:spPr>
          <a:xfrm>
            <a:off x="1982913" y="1185111"/>
            <a:ext cx="45951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Análisis predictivo en 217 países (1960-2024)</a:t>
            </a:r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588D50-942B-A762-A947-D777EA6E34D3}"/>
              </a:ext>
            </a:extLst>
          </p:cNvPr>
          <p:cNvSpPr txBox="1"/>
          <p:nvPr/>
        </p:nvSpPr>
        <p:spPr>
          <a:xfrm>
            <a:off x="138362" y="5799221"/>
            <a:ext cx="30816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s-ES" dirty="0">
                <a:solidFill>
                  <a:schemeClr val="bg1"/>
                </a:solidFill>
              </a:rPr>
              <a:t>Autor: jdthgp27</a:t>
            </a:r>
          </a:p>
          <a:p>
            <a:pPr latinLnBrk="1"/>
            <a:r>
              <a:rPr lang="es-ES" dirty="0">
                <a:solidFill>
                  <a:schemeClr val="bg1"/>
                </a:solidFill>
              </a:rPr>
              <a:t>Módulo: BI y Big Data - Nivel 5</a:t>
            </a:r>
          </a:p>
          <a:p>
            <a:pPr latinLnBrk="1"/>
            <a:r>
              <a:rPr lang="es-ES" dirty="0">
                <a:solidFill>
                  <a:schemeClr val="bg1"/>
                </a:solidFill>
              </a:rPr>
              <a:t>Fecha: Septiembre 2026</a:t>
            </a:r>
          </a:p>
          <a:p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C5ED995-0B86-AB99-C990-8E03D934DF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4226" y="1699038"/>
            <a:ext cx="7194884" cy="5028335"/>
          </a:xfrm>
          <a:prstGeom prst="rect">
            <a:avLst/>
          </a:prstGeom>
        </p:spPr>
      </p:pic>
      <p:pic>
        <p:nvPicPr>
          <p:cNvPr id="8" name="ttsmaker-file-2026-9-17-20-16-53">
            <a:hlinkClick r:id="" action="ppaction://media"/>
            <a:extLst>
              <a:ext uri="{FF2B5EF4-FFF2-40B4-BE49-F238E27FC236}">
                <a16:creationId xmlns:a16="http://schemas.microsoft.com/office/drawing/2014/main" id="{B968E5E5-F5EF-12BE-A3D8-5914BBBD3CC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05250" y="463849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62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AB90E9-5CEE-4E4F-90F9-2CE3D9135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0" y="822325"/>
            <a:ext cx="5684520" cy="1325563"/>
          </a:xfrm>
        </p:spPr>
        <p:txBody>
          <a:bodyPr rtlCol="0"/>
          <a:lstStyle/>
          <a:p>
            <a:r>
              <a:rPr lang="es-ES" dirty="0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DF4BB2-624B-43EE-8846-5659141CC9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9280" y="2595562"/>
            <a:ext cx="5684520" cy="318103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latinLnBrk="1"/>
            <a:r>
              <a:rPr lang="es-ES" dirty="0"/>
              <a:t>📋 Contenido de la presentación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1. Contexto y objetivo del análisis</a:t>
            </a:r>
          </a:p>
          <a:p>
            <a:pPr latinLnBrk="1"/>
            <a:r>
              <a:rPr lang="es-ES" dirty="0"/>
              <a:t>2. Fuentes de datos y proceso de obtención</a:t>
            </a:r>
          </a:p>
          <a:p>
            <a:pPr latinLnBrk="1"/>
            <a:r>
              <a:rPr lang="es-ES" dirty="0"/>
              <a:t>3. Preparación y limpieza de datos</a:t>
            </a:r>
          </a:p>
          <a:p>
            <a:pPr latinLnBrk="1"/>
            <a:r>
              <a:rPr lang="es-ES" dirty="0"/>
              <a:t>4. Técnicas aplicadas: clasificación, </a:t>
            </a:r>
            <a:r>
              <a:rPr lang="es-ES" dirty="0" err="1"/>
              <a:t>clustering</a:t>
            </a:r>
            <a:r>
              <a:rPr lang="es-ES" dirty="0"/>
              <a:t> y asociación</a:t>
            </a:r>
          </a:p>
          <a:p>
            <a:pPr latinLnBrk="1"/>
            <a:r>
              <a:rPr lang="es-ES" dirty="0"/>
              <a:t>5. Resultados obtenidos</a:t>
            </a:r>
          </a:p>
          <a:p>
            <a:pPr latinLnBrk="1"/>
            <a:r>
              <a:rPr lang="es-ES" dirty="0"/>
              <a:t>6. Recomendaciones de mejora</a:t>
            </a:r>
          </a:p>
          <a:p>
            <a:pPr latinLnBrk="1"/>
            <a:r>
              <a:rPr lang="es-ES" dirty="0"/>
              <a:t>7. Conclusiones y próximos pasos</a:t>
            </a:r>
          </a:p>
          <a:p>
            <a:pPr rtl="0"/>
            <a:endParaRPr lang="es-ES" dirty="0"/>
          </a:p>
        </p:txBody>
      </p:sp>
      <p:sp>
        <p:nvSpPr>
          <p:cNvPr id="12" name="Marcador de fecha 11">
            <a:extLst>
              <a:ext uri="{FF2B5EF4-FFF2-40B4-BE49-F238E27FC236}">
                <a16:creationId xmlns:a16="http://schemas.microsoft.com/office/drawing/2014/main" id="{F068B7E0-3F26-4101-8308-9627365C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13" name="Marcador de pie de página 12">
            <a:extLst>
              <a:ext uri="{FF2B5EF4-FFF2-40B4-BE49-F238E27FC236}">
                <a16:creationId xmlns:a16="http://schemas.microsoft.com/office/drawing/2014/main" id="{D53A5F38-6B02-4793-861F-931794577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14" name="Marcador de número de diapositiva 13">
            <a:extLst>
              <a:ext uri="{FF2B5EF4-FFF2-40B4-BE49-F238E27FC236}">
                <a16:creationId xmlns:a16="http://schemas.microsoft.com/office/drawing/2014/main" id="{FF0DADF7-71F8-49DA-8F56-3DE812A61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2</a:t>
            </a:fld>
            <a:endParaRPr lang="es-ES"/>
          </a:p>
        </p:txBody>
      </p:sp>
      <p:pic>
        <p:nvPicPr>
          <p:cNvPr id="4" name="ttsmaker-file-2026-9-17-20-19-57">
            <a:hlinkClick r:id="" action="ppaction://media"/>
            <a:extLst>
              <a:ext uri="{FF2B5EF4-FFF2-40B4-BE49-F238E27FC236}">
                <a16:creationId xmlns:a16="http://schemas.microsoft.com/office/drawing/2014/main" id="{07898DFB-9EB3-0EDA-898A-A42E2AA49B9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66118" y="528923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5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73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DE1336C-7161-B84C-F96E-BEAD808BB1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250" y="0"/>
            <a:ext cx="120015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77987"/>
            <a:ext cx="5684520" cy="713310"/>
          </a:xfrm>
        </p:spPr>
        <p:txBody>
          <a:bodyPr rtlCol="0"/>
          <a:lstStyle/>
          <a:p>
            <a:pPr latinLnBrk="1"/>
            <a:r>
              <a:rPr lang="es-ES" b="0" dirty="0"/>
              <a:t>🎯 Contexto y objetivo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50" y="3159436"/>
            <a:ext cx="5684521" cy="3132961"/>
          </a:xfrm>
        </p:spPr>
        <p:txBody>
          <a:bodyPr vert="horz" lIns="91440" tIns="45720" rIns="91440" bIns="45720" rtlCol="0" anchor="t">
            <a:normAutofit fontScale="77500" lnSpcReduction="20000"/>
          </a:bodyPr>
          <a:lstStyle/>
          <a:p>
            <a:pPr latinLnBrk="1"/>
            <a:r>
              <a:rPr lang="es-ES" b="1" dirty="0"/>
              <a:t>CONTEXTO</a:t>
            </a:r>
          </a:p>
          <a:p>
            <a:pPr latinLnBrk="1"/>
            <a:r>
              <a:rPr lang="es-ES" b="1" dirty="0"/>
              <a:t>• La pobreza infantil afecta a más de 330 millones de niños en el mundo</a:t>
            </a:r>
          </a:p>
          <a:p>
            <a:pPr latinLnBrk="1"/>
            <a:r>
              <a:rPr lang="es-ES" b="1" dirty="0"/>
              <a:t>• Es un fenómeno multidimensional: económica, nutricional, sanitaria y educativa</a:t>
            </a:r>
          </a:p>
          <a:p>
            <a:pPr latinLnBrk="1"/>
            <a:r>
              <a:rPr lang="es-ES" b="1" dirty="0"/>
              <a:t>• Los datos existen pero están dispersos en múltiples fuentes</a:t>
            </a:r>
          </a:p>
          <a:p>
            <a:pPr latinLnBrk="1"/>
            <a:endParaRPr lang="es-ES" b="1" dirty="0"/>
          </a:p>
          <a:p>
            <a:pPr latinLnBrk="1"/>
            <a:r>
              <a:rPr lang="es-ES" b="1" dirty="0"/>
              <a:t>OBJETIVO DEL ANÁLISIS</a:t>
            </a:r>
          </a:p>
          <a:p>
            <a:pPr latinLnBrk="1"/>
            <a:r>
              <a:rPr lang="es-ES" b="1" dirty="0"/>
              <a:t>• Aplicar técnicas avanzadas de Data </a:t>
            </a:r>
            <a:r>
              <a:rPr lang="es-ES" b="1" dirty="0" err="1"/>
              <a:t>Mining</a:t>
            </a:r>
            <a:r>
              <a:rPr lang="es-ES" b="1" dirty="0"/>
              <a:t> para:</a:t>
            </a:r>
          </a:p>
          <a:p>
            <a:pPr latinLnBrk="1"/>
            <a:r>
              <a:rPr lang="es-ES" b="1" dirty="0"/>
              <a:t>  → Predecir qué países tienen alto riesgo de mortalidad infantil</a:t>
            </a:r>
          </a:p>
          <a:p>
            <a:pPr latinLnBrk="1"/>
            <a:r>
              <a:rPr lang="es-ES" b="1" dirty="0"/>
              <a:t>  → Segmentar países por perfil socioeconómico</a:t>
            </a:r>
          </a:p>
          <a:p>
            <a:pPr latinLnBrk="1"/>
            <a:r>
              <a:rPr lang="es-ES" b="1" dirty="0"/>
              <a:t>  → Descubrir relaciones entre indicadores</a:t>
            </a:r>
          </a:p>
          <a:p>
            <a:pPr latinLnBrk="1"/>
            <a:r>
              <a:rPr lang="es-ES" b="1" dirty="0"/>
              <a:t>  → Generar recomendaciones accionables</a:t>
            </a:r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39DEAC25-4DF8-463C-83B2-7DBD27EBB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19B51A1E-902D-48AF-9020-955120F399B6}" type="slidenum">
              <a:rPr lang="es-ES" smtClean="0"/>
              <a:pPr/>
              <a:t>3</a:t>
            </a:fld>
            <a:endParaRPr lang="es-ES"/>
          </a:p>
        </p:txBody>
      </p:sp>
      <p:pic>
        <p:nvPicPr>
          <p:cNvPr id="8" name="ttsmaker-file-2026-9-17-20-34-37">
            <a:hlinkClick r:id="" action="ppaction://media"/>
            <a:extLst>
              <a:ext uri="{FF2B5EF4-FFF2-40B4-BE49-F238E27FC236}">
                <a16:creationId xmlns:a16="http://schemas.microsoft.com/office/drawing/2014/main" id="{E58AE71D-3D5F-DACE-E8A5-269FEED1F4E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315241" y="5732462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55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017" y="246648"/>
            <a:ext cx="8216766" cy="880963"/>
          </a:xfrm>
        </p:spPr>
        <p:txBody>
          <a:bodyPr rtlCol="0"/>
          <a:lstStyle/>
          <a:p>
            <a:pPr latinLnBrk="1"/>
            <a:r>
              <a:rPr lang="es-ES" b="0" dirty="0"/>
              <a:t>📊 Fuentes de datos utilizadas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774" y="1203158"/>
            <a:ext cx="6575258" cy="490808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latinLnBrk="1"/>
            <a:r>
              <a:rPr lang="es-ES" dirty="0"/>
              <a:t>FUENTE PRINCIPAL</a:t>
            </a:r>
          </a:p>
          <a:p>
            <a:pPr latinLnBrk="1"/>
            <a:r>
              <a:rPr lang="es-ES" dirty="0"/>
              <a:t>• Repositorio: </a:t>
            </a:r>
            <a:r>
              <a:rPr lang="es-ES" dirty="0" err="1"/>
              <a:t>world</a:t>
            </a:r>
            <a:r>
              <a:rPr lang="es-ES" dirty="0"/>
              <a:t>-</a:t>
            </a:r>
            <a:r>
              <a:rPr lang="es-ES" dirty="0" err="1"/>
              <a:t>bank</a:t>
            </a:r>
            <a:r>
              <a:rPr lang="es-ES" dirty="0"/>
              <a:t>-</a:t>
            </a:r>
            <a:r>
              <a:rPr lang="es-ES" dirty="0" err="1"/>
              <a:t>unicef</a:t>
            </a:r>
            <a:r>
              <a:rPr lang="es-ES" dirty="0"/>
              <a:t>-data (GitHub - </a:t>
            </a:r>
            <a:r>
              <a:rPr lang="es-ES" dirty="0" err="1"/>
              <a:t>danribes</a:t>
            </a:r>
            <a:r>
              <a:rPr lang="es-ES" dirty="0"/>
              <a:t>)</a:t>
            </a:r>
          </a:p>
          <a:p>
            <a:pPr latinLnBrk="1"/>
            <a:r>
              <a:rPr lang="es-ES" dirty="0"/>
              <a:t>• Origen combinado: Banco Mundial + UNICEF</a:t>
            </a:r>
          </a:p>
          <a:p>
            <a:pPr latinLnBrk="1"/>
            <a:r>
              <a:rPr lang="es-ES" dirty="0"/>
              <a:t>• Archivo: world_bank_gdp_data_with_poverty.xlsx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FUENTES COMPLEMENTARIAS</a:t>
            </a:r>
          </a:p>
          <a:p>
            <a:pPr latinLnBrk="1"/>
            <a:r>
              <a:rPr lang="es-ES" dirty="0"/>
              <a:t>• world_bank_countries.csv → referencia de países (región, nivel de ingresos)</a:t>
            </a:r>
          </a:p>
          <a:p>
            <a:pPr latinLnBrk="1"/>
            <a:r>
              <a:rPr lang="es-ES" dirty="0"/>
              <a:t>• nutrition_data.csv → datos de nutrición infantil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CRITERIOS DE SELECCIÓN</a:t>
            </a:r>
          </a:p>
          <a:p>
            <a:pPr latinLnBrk="1"/>
            <a:r>
              <a:rPr lang="es-ES" dirty="0"/>
              <a:t>✅ Volumen suficiente (miles de registros)</a:t>
            </a:r>
          </a:p>
          <a:p>
            <a:pPr latinLnBrk="1"/>
            <a:r>
              <a:rPr lang="es-ES" dirty="0"/>
              <a:t>✅ Variedad de variables (numéricas + categóricas)</a:t>
            </a:r>
          </a:p>
          <a:p>
            <a:pPr latinLnBrk="1"/>
            <a:r>
              <a:rPr lang="es-ES" dirty="0"/>
              <a:t>✅ Relevancia de negocio directa</a:t>
            </a:r>
          </a:p>
          <a:p>
            <a:pPr latinLnBrk="1"/>
            <a:r>
              <a:rPr lang="es-ES" dirty="0"/>
              <a:t>✅ Documentación clara y fuentes oficiales</a:t>
            </a:r>
          </a:p>
          <a:p>
            <a:pPr latinLnBrk="1"/>
            <a:r>
              <a:rPr lang="es-ES" dirty="0"/>
              <a:t>✅ Cobertura temporal amplia (60+ años)</a:t>
            </a:r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5837F6CC-F87E-4BF6-9EFE-DA537BAB6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12" name="Marcador de pie de página 11">
            <a:extLst>
              <a:ext uri="{FF2B5EF4-FFF2-40B4-BE49-F238E27FC236}">
                <a16:creationId xmlns:a16="http://schemas.microsoft.com/office/drawing/2014/main" id="{E80EA4A2-4719-41C0-949E-AF9166CAE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13" name="Marcador de número de diapositiva 12">
            <a:extLst>
              <a:ext uri="{FF2B5EF4-FFF2-40B4-BE49-F238E27FC236}">
                <a16:creationId xmlns:a16="http://schemas.microsoft.com/office/drawing/2014/main" id="{E97A1D68-0269-4F8D-8A4E-B8D9753C7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4</a:t>
            </a:fld>
            <a:endParaRPr lang="es-ES"/>
          </a:p>
        </p:txBody>
      </p:sp>
      <p:pic>
        <p:nvPicPr>
          <p:cNvPr id="4" name="ttsmaker-file-2026-9-17-20-36-55">
            <a:hlinkClick r:id="" action="ppaction://media"/>
            <a:extLst>
              <a:ext uri="{FF2B5EF4-FFF2-40B4-BE49-F238E27FC236}">
                <a16:creationId xmlns:a16="http://schemas.microsoft.com/office/drawing/2014/main" id="{21C6C74F-250A-3F65-FB8A-58CE8E3421D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508125" y="553068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87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241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latinLnBrk="1"/>
            <a:r>
              <a:rPr lang="es-ES" b="0" dirty="0"/>
              <a:t>🔍 Diagnóstico del </a:t>
            </a:r>
            <a:r>
              <a:rPr lang="es-ES" b="0" dirty="0" err="1"/>
              <a:t>dataset</a:t>
            </a:r>
            <a:endParaRPr lang="es-ES" b="0" dirty="0"/>
          </a:p>
        </p:txBody>
      </p:sp>
      <p:sp>
        <p:nvSpPr>
          <p:cNvPr id="61" name="Marcador de fecha 60">
            <a:extLst>
              <a:ext uri="{FF2B5EF4-FFF2-40B4-BE49-F238E27FC236}">
                <a16:creationId xmlns:a16="http://schemas.microsoft.com/office/drawing/2014/main" id="{C5E86CA3-CC65-4085-BCDC-93141EBD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62" name="Marcador de pie de página 61">
            <a:extLst>
              <a:ext uri="{FF2B5EF4-FFF2-40B4-BE49-F238E27FC236}">
                <a16:creationId xmlns:a16="http://schemas.microsoft.com/office/drawing/2014/main" id="{C1BA4316-79F5-4E35-B754-FEEFC06C1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63" name="Marcador de número de diapositiva 62">
            <a:extLst>
              <a:ext uri="{FF2B5EF4-FFF2-40B4-BE49-F238E27FC236}">
                <a16:creationId xmlns:a16="http://schemas.microsoft.com/office/drawing/2014/main" id="{22B5CBBF-FB43-46F2-8846-3DF85C26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9BAF7D5-A9A2-F991-EB8C-2BA18078E1B6}"/>
              </a:ext>
            </a:extLst>
          </p:cNvPr>
          <p:cNvSpPr txBox="1"/>
          <p:nvPr/>
        </p:nvSpPr>
        <p:spPr>
          <a:xfrm>
            <a:off x="409074" y="1473869"/>
            <a:ext cx="873642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DIMENSIONES INICIALES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14.105 registros (combinaciones país × año)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217 países representados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64 columnas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Periodo: 1960 - 2024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PROBLEMA DETECTADO: ALTA DISPERSIÓN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Solo 9 de 64 columnas tienen &gt;50% de datos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Cobertura de pobreza infantil directa: 0.5%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Cobertura de mortalidad infantil: 82%</a:t>
            </a:r>
            <a:endParaRPr lang="es-ES" sz="975" b="0" dirty="0">
              <a:solidFill>
                <a:srgbClr val="0F1115"/>
              </a:solidFill>
              <a:effectLst/>
              <a:latin typeface="Menlo"/>
            </a:endParaRPr>
          </a:p>
        </p:txBody>
      </p:sp>
      <p:pic>
        <p:nvPicPr>
          <p:cNvPr id="42" name="ttsmaker-file-2026-9-17-20-42-30">
            <a:hlinkClick r:id="" action="ppaction://media"/>
            <a:extLst>
              <a:ext uri="{FF2B5EF4-FFF2-40B4-BE49-F238E27FC236}">
                <a16:creationId xmlns:a16="http://schemas.microsoft.com/office/drawing/2014/main" id="{88285F2E-17B9-0B22-5656-D3DDB5E8CDE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74988" y="5259972"/>
            <a:ext cx="487363" cy="487363"/>
          </a:xfrm>
          <a:prstGeom prst="rect">
            <a:avLst/>
          </a:prstGeom>
        </p:spPr>
      </p:pic>
      <p:pic>
        <p:nvPicPr>
          <p:cNvPr id="46" name="Imagen 45">
            <a:extLst>
              <a:ext uri="{FF2B5EF4-FFF2-40B4-BE49-F238E27FC236}">
                <a16:creationId xmlns:a16="http://schemas.microsoft.com/office/drawing/2014/main" id="{7D3CE986-F7AF-026F-34C8-E43332B5511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0959" y="1473869"/>
            <a:ext cx="7243804" cy="5191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4530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460" fill="hold"/>
                                        <p:tgtEl>
                                          <p:spTgt spid="4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2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33A0AB-9D5D-0206-8C1D-AC535044C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31328"/>
          </a:xfrm>
        </p:spPr>
        <p:txBody>
          <a:bodyPr/>
          <a:lstStyle/>
          <a:p>
            <a:r>
              <a:rPr lang="es-ES" b="0" dirty="0"/>
              <a:t>🔧 Proceso de preparación de datos</a:t>
            </a:r>
            <a:br>
              <a:rPr lang="es-ES" b="0" dirty="0"/>
            </a:br>
            <a:endParaRPr lang="es-ES" dirty="0"/>
          </a:p>
        </p:txBody>
      </p:sp>
      <p:sp>
        <p:nvSpPr>
          <p:cNvPr id="15" name="Marcador de fecha 14">
            <a:extLst>
              <a:ext uri="{FF2B5EF4-FFF2-40B4-BE49-F238E27FC236}">
                <a16:creationId xmlns:a16="http://schemas.microsoft.com/office/drawing/2014/main" id="{768FAA75-99A8-4EBC-F9D1-826C0BD4D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ES" noProof="0"/>
              <a:t>29/7/20XX</a:t>
            </a:r>
          </a:p>
        </p:txBody>
      </p:sp>
      <p:sp>
        <p:nvSpPr>
          <p:cNvPr id="16" name="Marcador de pie de página 15">
            <a:extLst>
              <a:ext uri="{FF2B5EF4-FFF2-40B4-BE49-F238E27FC236}">
                <a16:creationId xmlns:a16="http://schemas.microsoft.com/office/drawing/2014/main" id="{595C7AB6-B180-7DE4-35C9-396BB8C3EA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17" name="Marcador de número de diapositiva 16">
            <a:extLst>
              <a:ext uri="{FF2B5EF4-FFF2-40B4-BE49-F238E27FC236}">
                <a16:creationId xmlns:a16="http://schemas.microsoft.com/office/drawing/2014/main" id="{37187DC8-C616-CF1A-B092-E6876FA92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pPr rtl="0"/>
              <a:t>6</a:t>
            </a:fld>
            <a:endParaRPr lang="es-ES" noProof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5DB5C7E9-90EF-E630-5118-5574CEC85B7E}"/>
              </a:ext>
            </a:extLst>
          </p:cNvPr>
          <p:cNvSpPr txBox="1"/>
          <p:nvPr/>
        </p:nvSpPr>
        <p:spPr>
          <a:xfrm>
            <a:off x="4445668" y="1030789"/>
            <a:ext cx="546985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PASOS SEGUIDOS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1. SELECCIÓN DE COLUMNAS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De 64 → 21 columnas relevantes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2. FILTRADO TEMPORAL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1960-2024 → 2000-2024 (datos más fiables)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3. TRATAMIENTO DE NULOS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Imputación con mediana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4. GENERACIÓN DE DOS DATASETS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• df_clasificacion.csv → 4.577 filas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• df_clustering.csv → 1.833 filas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5. TRATAMIENTO DE OUTLIERS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Recorte al percentil 99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6. ESCALADO Y TRANSFORMACIÓN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Log para GDP + </a:t>
            </a:r>
            <a:r>
              <a:rPr lang="es-ES" sz="1800" b="0" dirty="0" err="1">
                <a:solidFill>
                  <a:schemeClr val="tx1"/>
                </a:solidFill>
                <a:effectLst/>
                <a:latin typeface="+mn-lt"/>
              </a:rPr>
              <a:t>StandardScaler</a:t>
            </a:r>
            <a:endParaRPr lang="es-ES" sz="975" b="0" dirty="0">
              <a:solidFill>
                <a:srgbClr val="0F1115"/>
              </a:solidFill>
              <a:effectLst/>
              <a:latin typeface="Menlo"/>
            </a:endParaRPr>
          </a:p>
        </p:txBody>
      </p:sp>
      <p:pic>
        <p:nvPicPr>
          <p:cNvPr id="20" name="ttsmaker-file-2026-9-17-21-20-42">
            <a:hlinkClick r:id="" action="ppaction://media"/>
            <a:extLst>
              <a:ext uri="{FF2B5EF4-FFF2-40B4-BE49-F238E27FC236}">
                <a16:creationId xmlns:a16="http://schemas.microsoft.com/office/drawing/2014/main" id="{CA4B0CB6-AD3F-1BD5-FFE1-46F41C272E7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303588" y="5572795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27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008" fill="hold"/>
                                        <p:tgtEl>
                                          <p:spTgt spid="2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0"/>
                </p:tgtEl>
              </p:cMediaNode>
            </p:audi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rtlCol="0"/>
          <a:lstStyle/>
          <a:p>
            <a:pPr latinLnBrk="1"/>
            <a:r>
              <a:rPr lang="es-ES" b="0" dirty="0"/>
              <a:t>⚠️ Detección de "data </a:t>
            </a:r>
            <a:r>
              <a:rPr lang="es-ES" b="0" dirty="0" err="1"/>
              <a:t>leakage</a:t>
            </a:r>
            <a:r>
              <a:rPr lang="es-ES" b="0" dirty="0"/>
              <a:t>"</a:t>
            </a:r>
          </a:p>
        </p:txBody>
      </p:sp>
      <p:sp>
        <p:nvSpPr>
          <p:cNvPr id="113" name="Marcador de fecha 112">
            <a:extLst>
              <a:ext uri="{FF2B5EF4-FFF2-40B4-BE49-F238E27FC236}">
                <a16:creationId xmlns:a16="http://schemas.microsoft.com/office/drawing/2014/main" id="{7E8EF87C-1B5A-4A25-A610-FF5D18E26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114" name="Marcador de pie de página 113">
            <a:extLst>
              <a:ext uri="{FF2B5EF4-FFF2-40B4-BE49-F238E27FC236}">
                <a16:creationId xmlns:a16="http://schemas.microsoft.com/office/drawing/2014/main" id="{E1B2A7C1-7EE4-45F0-B54C-188E1133A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115" name="Marcador de número de diapositiva 114">
            <a:extLst>
              <a:ext uri="{FF2B5EF4-FFF2-40B4-BE49-F238E27FC236}">
                <a16:creationId xmlns:a16="http://schemas.microsoft.com/office/drawing/2014/main" id="{47C21FD0-6144-422A-9727-F3249A6B5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7</a:t>
            </a:fld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140DA69-110A-1B67-187F-7E3D3569D920}"/>
              </a:ext>
            </a:extLst>
          </p:cNvPr>
          <p:cNvSpPr txBox="1"/>
          <p:nvPr/>
        </p:nvSpPr>
        <p:spPr>
          <a:xfrm>
            <a:off x="3451559" y="2279956"/>
            <a:ext cx="6097002" cy="2610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PRIMER INTENTO (INCORRECTO)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Variables incluidas: mortalidad neonatal, mortalidad infantil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Resultado: F1 = 0.98 (demasiado bueno)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PROBLEMA: el modelo predecía lo obvio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CORRECCIÓN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Eliminación de todas las variables de mortalidad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Solo se usaron variables socioeconómicas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• Resultado: F1 = 0.93 (realista y accionable)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LECCIÓN APRENDIDA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Las métricas deben ser creíbles, no perfectas</a:t>
            </a:r>
            <a:endParaRPr lang="es-ES" sz="975" b="0" dirty="0">
              <a:solidFill>
                <a:srgbClr val="0F1115"/>
              </a:solidFill>
              <a:effectLst/>
              <a:latin typeface="Menlo"/>
            </a:endParaRPr>
          </a:p>
        </p:txBody>
      </p:sp>
      <p:pic>
        <p:nvPicPr>
          <p:cNvPr id="25" name="ttsmaker-file-2026-9-17-21-23-47">
            <a:hlinkClick r:id="" action="ppaction://media"/>
            <a:extLst>
              <a:ext uri="{FF2B5EF4-FFF2-40B4-BE49-F238E27FC236}">
                <a16:creationId xmlns:a16="http://schemas.microsoft.com/office/drawing/2014/main" id="{F6B2C0F3-859D-4A14-B152-3F5958F8CDB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47177" y="532614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920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7952" fill="hold"/>
                                        <p:tgtEl>
                                          <p:spTgt spid="2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5"/>
                </p:tgtEl>
              </p:cMediaNode>
            </p:audio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91CFAB-A735-4A31-A51D-42FE1F5E9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24742" y="822325"/>
            <a:ext cx="9329058" cy="1325563"/>
          </a:xfrm>
        </p:spPr>
        <p:txBody>
          <a:bodyPr rtlCol="0"/>
          <a:lstStyle/>
          <a:p>
            <a:pPr latinLnBrk="1"/>
            <a:r>
              <a:rPr lang="es-ES" b="0" dirty="0"/>
              <a:t>🎯 TÉCNICA 1: CLASIFICACIÓN</a:t>
            </a:r>
          </a:p>
        </p:txBody>
      </p:sp>
      <p:sp>
        <p:nvSpPr>
          <p:cNvPr id="48" name="Marcador de fecha 47">
            <a:extLst>
              <a:ext uri="{FF2B5EF4-FFF2-40B4-BE49-F238E27FC236}">
                <a16:creationId xmlns:a16="http://schemas.microsoft.com/office/drawing/2014/main" id="{9F0F90AF-D03D-4A81-B9BF-B3263897031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2024740" y="6356350"/>
            <a:ext cx="1556659" cy="365125"/>
          </a:xfrm>
        </p:spPr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49" name="Marcador de pie de página 48">
            <a:extLst>
              <a:ext uri="{FF2B5EF4-FFF2-40B4-BE49-F238E27FC236}">
                <a16:creationId xmlns:a16="http://schemas.microsoft.com/office/drawing/2014/main" id="{7761BB44-2A96-4AC0-9DB6-13C710983FA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4038600" y="6356350"/>
            <a:ext cx="5268686" cy="365125"/>
          </a:xfrm>
        </p:spPr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50" name="Marcador de número de diapositiva 49">
            <a:extLst>
              <a:ext uri="{FF2B5EF4-FFF2-40B4-BE49-F238E27FC236}">
                <a16:creationId xmlns:a16="http://schemas.microsoft.com/office/drawing/2014/main" id="{84B61B7E-5114-4B02-895E-18609706A12A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9764486" y="6356350"/>
            <a:ext cx="1589314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8</a:t>
            </a:fld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DD2945B-3975-000E-7C76-67259BA9044B}"/>
              </a:ext>
            </a:extLst>
          </p:cNvPr>
          <p:cNvSpPr txBox="1"/>
          <p:nvPr/>
        </p:nvSpPr>
        <p:spPr>
          <a:xfrm>
            <a:off x="3047499" y="2330727"/>
            <a:ext cx="60970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VARIABLE OBJETIVO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 err="1">
                <a:solidFill>
                  <a:schemeClr val="bg1"/>
                </a:solidFill>
                <a:effectLst/>
                <a:latin typeface="+mn-lt"/>
              </a:rPr>
              <a:t>high_child_mortality</a:t>
            </a: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(0 = baja, 1 = alta)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Umbral: mediana de mortalidad = 19.84</a:t>
            </a:r>
          </a:p>
          <a:p>
            <a:pPr>
              <a:buNone/>
            </a:pPr>
            <a:br>
              <a:rPr lang="es-ES" dirty="0">
                <a:solidFill>
                  <a:schemeClr val="bg1"/>
                </a:solidFill>
              </a:rPr>
            </a:b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C8E46D4-AE78-27D7-2C6A-C84A2A67AFD7}"/>
              </a:ext>
            </a:extLst>
          </p:cNvPr>
          <p:cNvSpPr txBox="1"/>
          <p:nvPr/>
        </p:nvSpPr>
        <p:spPr>
          <a:xfrm>
            <a:off x="2556710" y="3484889"/>
            <a:ext cx="24641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MODELOS EVALUADOS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9427615A-EE7E-E194-EE0A-AC5F004B608D}"/>
              </a:ext>
            </a:extLst>
          </p:cNvPr>
          <p:cNvSpPr txBox="1"/>
          <p:nvPr/>
        </p:nvSpPr>
        <p:spPr>
          <a:xfrm>
            <a:off x="2302543" y="3952021"/>
            <a:ext cx="60970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| Modelo          | </a:t>
            </a:r>
            <a:r>
              <a:rPr lang="es-ES" sz="1800" b="0" dirty="0" err="1">
                <a:solidFill>
                  <a:schemeClr val="bg1"/>
                </a:solidFill>
                <a:effectLst/>
                <a:latin typeface="+mn-lt"/>
              </a:rPr>
              <a:t>Accuracy</a:t>
            </a: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| F1-Score | ROC-AUC |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|-----------------|-------------|------------|-------------|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| </a:t>
            </a:r>
            <a:r>
              <a:rPr lang="es-ES" sz="1800" b="0" dirty="0" err="1">
                <a:solidFill>
                  <a:schemeClr val="bg1"/>
                </a:solidFill>
                <a:effectLst/>
                <a:latin typeface="+mn-lt"/>
              </a:rPr>
              <a:t>Decision</a:t>
            </a: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Tree   | 0.8523  | 0.8597   | 0.9460      |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| Random Forest | 0.9309  | 0.9301  | 0.9812      |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| SVM                   | 0.8624  | 0.8651  | 0.9487       |</a:t>
            </a:r>
            <a:endParaRPr lang="es-ES" sz="975" b="0" dirty="0">
              <a:solidFill>
                <a:schemeClr val="bg1"/>
              </a:solidFill>
              <a:effectLst/>
              <a:latin typeface="Menlo"/>
            </a:endParaRP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0D566CDB-A792-7702-CF16-D945ADED75C7}"/>
              </a:ext>
            </a:extLst>
          </p:cNvPr>
          <p:cNvSpPr txBox="1"/>
          <p:nvPr/>
        </p:nvSpPr>
        <p:spPr>
          <a:xfrm>
            <a:off x="2024740" y="5710019"/>
            <a:ext cx="41360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🏆 </a:t>
            </a:r>
            <a:r>
              <a:rPr lang="es-ES" dirty="0">
                <a:solidFill>
                  <a:schemeClr val="bg1"/>
                </a:solidFill>
              </a:rPr>
              <a:t>GANADOR: Random Forest (F1=0.93)</a:t>
            </a:r>
          </a:p>
          <a:p>
            <a:endParaRPr lang="es-ES" dirty="0">
              <a:solidFill>
                <a:schemeClr val="bg1"/>
              </a:solidFill>
            </a:endParaRP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12DCD5F7-190F-0316-17D0-6D2DA52C02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6678" y="2448426"/>
            <a:ext cx="4999121" cy="3261593"/>
          </a:xfrm>
          <a:prstGeom prst="rect">
            <a:avLst/>
          </a:prstGeom>
        </p:spPr>
      </p:pic>
      <p:pic>
        <p:nvPicPr>
          <p:cNvPr id="35" name="ttsmaker-file-2026-9-17-21-30-36">
            <a:hlinkClick r:id="" action="ppaction://media"/>
            <a:extLst>
              <a:ext uri="{FF2B5EF4-FFF2-40B4-BE49-F238E27FC236}">
                <a16:creationId xmlns:a16="http://schemas.microsoft.com/office/drawing/2014/main" id="{E9741F4B-FAA9-2D7E-F3E1-EED90947CED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167260" y="592170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91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260" fill="hold"/>
                                        <p:tgtEl>
                                          <p:spTgt spid="3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5"/>
                </p:tgtEl>
              </p:cMediaNode>
            </p:audio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37E1C88-627C-4655-A4FB-0BB02EDB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2024" y="136525"/>
            <a:ext cx="5684520" cy="1305562"/>
          </a:xfrm>
        </p:spPr>
        <p:txBody>
          <a:bodyPr rtlCol="0"/>
          <a:lstStyle/>
          <a:p>
            <a:r>
              <a:rPr lang="es-ES" dirty="0"/>
              <a:t>Importancia de variables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3C0990-DED4-43F9-8B0F-41ABFD5332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344BF2-756E-40EF-B839-C3DBB55BE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F4E4AC-866E-41A9-AD13-857054D90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9</a:t>
            </a:fld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A32632-5AD0-E223-C90E-6E1A647FAE5E}"/>
              </a:ext>
            </a:extLst>
          </p:cNvPr>
          <p:cNvSpPr txBox="1"/>
          <p:nvPr/>
        </p:nvSpPr>
        <p:spPr>
          <a:xfrm>
            <a:off x="4038600" y="1564105"/>
            <a:ext cx="44284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🔑 Variables más importantes para predecir</a:t>
            </a:r>
          </a:p>
          <a:p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715FCDCF-7AC2-E024-3EB7-36243C835F52}"/>
              </a:ext>
            </a:extLst>
          </p:cNvPr>
          <p:cNvSpPr txBox="1"/>
          <p:nvPr/>
        </p:nvSpPr>
        <p:spPr>
          <a:xfrm>
            <a:off x="4752474" y="1949115"/>
            <a:ext cx="34660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TOP 5 FEATURES (Random Forest)</a:t>
            </a:r>
          </a:p>
          <a:p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167A37B-A203-FAE2-AA85-F11026C2F880}"/>
              </a:ext>
            </a:extLst>
          </p:cNvPr>
          <p:cNvSpPr txBox="1"/>
          <p:nvPr/>
        </p:nvSpPr>
        <p:spPr>
          <a:xfrm>
            <a:off x="2334125" y="2361003"/>
            <a:ext cx="715131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s-ES" dirty="0"/>
              <a:t>1. 💰 </a:t>
            </a:r>
            <a:r>
              <a:rPr lang="es-ES" dirty="0" err="1"/>
              <a:t>gdp_per_capita_current_usd</a:t>
            </a:r>
            <a:r>
              <a:rPr lang="es-ES" dirty="0"/>
              <a:t>         44.9%  ████████████████</a:t>
            </a:r>
          </a:p>
          <a:p>
            <a:pPr latinLnBrk="1"/>
            <a:r>
              <a:rPr lang="es-ES" dirty="0"/>
              <a:t>2. 👶 </a:t>
            </a:r>
            <a:r>
              <a:rPr lang="es-ES" dirty="0" err="1"/>
              <a:t>low_birth_weight_pct</a:t>
            </a:r>
            <a:r>
              <a:rPr lang="es-ES" dirty="0"/>
              <a:t>                     10.6%  ████</a:t>
            </a:r>
          </a:p>
          <a:p>
            <a:pPr latinLnBrk="1"/>
            <a:r>
              <a:rPr lang="es-ES" dirty="0"/>
              <a:t>3. 🌾 poverty_headcount_8_dollars_pct  9.6%  ███</a:t>
            </a:r>
          </a:p>
          <a:p>
            <a:pPr latinLnBrk="1"/>
            <a:r>
              <a:rPr lang="es-ES" dirty="0"/>
              <a:t>4. 💵 poverty_headcount_4_dollars_pct  7.2%  ██</a:t>
            </a:r>
          </a:p>
          <a:p>
            <a:pPr latinLnBrk="1"/>
            <a:r>
              <a:rPr lang="es-ES" dirty="0"/>
              <a:t>5. 🏦 </a:t>
            </a:r>
            <a:r>
              <a:rPr lang="es-ES" dirty="0" err="1"/>
              <a:t>gdp_billions_usd</a:t>
            </a:r>
            <a:r>
              <a:rPr lang="es-ES" dirty="0"/>
              <a:t>                               6.9%  ██</a:t>
            </a:r>
          </a:p>
          <a:p>
            <a:endParaRPr lang="es-ES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8F21E80-B5F7-C76A-B42F-BF88CBAA7AF5}"/>
              </a:ext>
            </a:extLst>
          </p:cNvPr>
          <p:cNvSpPr txBox="1"/>
          <p:nvPr/>
        </p:nvSpPr>
        <p:spPr>
          <a:xfrm>
            <a:off x="2282262" y="3862445"/>
            <a:ext cx="725504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s-ES" sz="1400" dirty="0"/>
              <a:t>CONCLUSIÓN CLAVE</a:t>
            </a:r>
          </a:p>
          <a:p>
            <a:pPr latinLnBrk="1"/>
            <a:r>
              <a:rPr lang="es-ES" sz="1400" dirty="0"/>
              <a:t>El PIB per cápita por sí solo explica casi la mitad de la capacidad predictiva del modelo.</a:t>
            </a:r>
          </a:p>
          <a:p>
            <a:endParaRPr lang="es-ES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EE3F3036-534A-FFDA-EFEB-51D119F423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7738" y="4374143"/>
            <a:ext cx="6098806" cy="2270729"/>
          </a:xfrm>
          <a:prstGeom prst="rect">
            <a:avLst/>
          </a:prstGeom>
        </p:spPr>
      </p:pic>
      <p:pic>
        <p:nvPicPr>
          <p:cNvPr id="15" name="ttsmaker-file-2026-9-17-21-35-15">
            <a:hlinkClick r:id="" action="ppaction://media"/>
            <a:extLst>
              <a:ext uri="{FF2B5EF4-FFF2-40B4-BE49-F238E27FC236}">
                <a16:creationId xmlns:a16="http://schemas.microsoft.com/office/drawing/2014/main" id="{43265415-82DF-CA5D-9A07-1B70658A999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787781" y="595212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37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6800" fill="hold"/>
                                        <p:tgtEl>
                                          <p:spTgt spid="1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5"/>
                </p:tgtEl>
              </p:cMediaNode>
            </p:audi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9DE7F2-E890-4744-88DD-A75F5E300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8206"/>
            <a:ext cx="10515600" cy="920416"/>
          </a:xfrm>
        </p:spPr>
        <p:txBody>
          <a:bodyPr rtlCol="0"/>
          <a:lstStyle/>
          <a:p>
            <a:pPr latinLnBrk="1"/>
            <a:r>
              <a:rPr lang="es-ES" b="0" dirty="0"/>
              <a:t>🔵 </a:t>
            </a:r>
            <a:r>
              <a:rPr lang="es-ES" sz="3200" b="0" dirty="0"/>
              <a:t>TÉCNICA 2: CLUSTERING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A943E83-DD62-A3A8-B9CB-C96B14E19B75}"/>
              </a:ext>
            </a:extLst>
          </p:cNvPr>
          <p:cNvSpPr txBox="1"/>
          <p:nvPr/>
        </p:nvSpPr>
        <p:spPr>
          <a:xfrm>
            <a:off x="827100" y="956511"/>
            <a:ext cx="4430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Segmentar países por perfil socioeconómico</a:t>
            </a:r>
          </a:p>
          <a:p>
            <a:endParaRPr lang="es-ES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8D262D2-9A69-59FD-EC28-1BD4EA13445E}"/>
              </a:ext>
            </a:extLst>
          </p:cNvPr>
          <p:cNvSpPr txBox="1"/>
          <p:nvPr/>
        </p:nvSpPr>
        <p:spPr>
          <a:xfrm>
            <a:off x="962526" y="1347537"/>
            <a:ext cx="242252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s-ES" dirty="0"/>
              <a:t>VARIABLES UTILIZADAS</a:t>
            </a:r>
          </a:p>
          <a:p>
            <a:pPr latinLnBrk="1"/>
            <a:r>
              <a:rPr lang="es-ES" dirty="0"/>
              <a:t>• PIB per cápita (log)</a:t>
            </a:r>
          </a:p>
          <a:p>
            <a:pPr latinLnBrk="1"/>
            <a:r>
              <a:rPr lang="es-ES" dirty="0"/>
              <a:t>• Índice de Gini</a:t>
            </a:r>
          </a:p>
          <a:p>
            <a:pPr latinLnBrk="1"/>
            <a:r>
              <a:rPr lang="es-ES" dirty="0"/>
              <a:t>• Mortalidad &lt;5 años</a:t>
            </a:r>
          </a:p>
          <a:p>
            <a:pPr latinLnBrk="1"/>
            <a:r>
              <a:rPr lang="es-ES" dirty="0"/>
              <a:t>• Pobreza &lt;3 USD/día</a:t>
            </a:r>
          </a:p>
          <a:p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975B035-2816-FEE6-87B8-A6B4743BF543}"/>
              </a:ext>
            </a:extLst>
          </p:cNvPr>
          <p:cNvSpPr txBox="1"/>
          <p:nvPr/>
        </p:nvSpPr>
        <p:spPr>
          <a:xfrm>
            <a:off x="7369343" y="956510"/>
            <a:ext cx="30203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ALGORITMOS COMPARADOS</a:t>
            </a:r>
          </a:p>
          <a:p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A5EF524-634A-BF60-D005-A1E5EBFF244D}"/>
              </a:ext>
            </a:extLst>
          </p:cNvPr>
          <p:cNvSpPr txBox="1"/>
          <p:nvPr/>
        </p:nvSpPr>
        <p:spPr>
          <a:xfrm>
            <a:off x="6918158" y="1449593"/>
            <a:ext cx="485761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s-ES" dirty="0"/>
              <a:t>| Algoritmo  | Silueta | Davies-Bouldin | Clusters |</a:t>
            </a:r>
          </a:p>
          <a:p>
            <a:pPr latinLnBrk="1"/>
            <a:r>
              <a:rPr lang="es-ES" dirty="0"/>
              <a:t>|------------|---------|----------------|----------|</a:t>
            </a:r>
          </a:p>
          <a:p>
            <a:pPr latinLnBrk="1"/>
            <a:r>
              <a:rPr lang="es-ES" dirty="0"/>
              <a:t>| K-</a:t>
            </a:r>
            <a:r>
              <a:rPr lang="es-ES" dirty="0" err="1"/>
              <a:t>means</a:t>
            </a:r>
            <a:r>
              <a:rPr lang="es-ES" dirty="0"/>
              <a:t>    | 0.5370  | 0.8997    | 2           |</a:t>
            </a:r>
          </a:p>
          <a:p>
            <a:pPr latinLnBrk="1"/>
            <a:r>
              <a:rPr lang="es-ES" dirty="0"/>
              <a:t>| DBSCAN     | 0.5602  | 0.5971    | 3 + ruido|</a:t>
            </a:r>
          </a:p>
          <a:p>
            <a:pPr latinLnBrk="1"/>
            <a:r>
              <a:rPr lang="es-ES" dirty="0"/>
              <a:t>| Jerárquico | 0.5615  | 0.7822     | 2          |</a:t>
            </a:r>
          </a:p>
          <a:p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95DC5DD-7D4C-D037-B696-E15F79CDEF60}"/>
              </a:ext>
            </a:extLst>
          </p:cNvPr>
          <p:cNvSpPr txBox="1"/>
          <p:nvPr/>
        </p:nvSpPr>
        <p:spPr>
          <a:xfrm>
            <a:off x="6815509" y="2980561"/>
            <a:ext cx="311739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🏆 GANADOR: K-</a:t>
            </a:r>
            <a:r>
              <a:rPr lang="es-ES" dirty="0" err="1"/>
              <a:t>means</a:t>
            </a:r>
            <a:r>
              <a:rPr lang="es-ES" dirty="0"/>
              <a:t> (K=2)</a:t>
            </a:r>
          </a:p>
          <a:p>
            <a:endParaRPr lang="es-ES" dirty="0"/>
          </a:p>
        </p:txBody>
      </p:sp>
      <p:pic>
        <p:nvPicPr>
          <p:cNvPr id="8" name="ttsmaker-file-2026-9-17-21-38-41">
            <a:hlinkClick r:id="" action="ppaction://media"/>
            <a:extLst>
              <a:ext uri="{FF2B5EF4-FFF2-40B4-BE49-F238E27FC236}">
                <a16:creationId xmlns:a16="http://schemas.microsoft.com/office/drawing/2014/main" id="{6700E18C-307F-6198-10FD-FCEE3F4DBC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31395" y="2622115"/>
            <a:ext cx="487363" cy="48736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453AE9E-A8E9-75E7-FBF8-C6238AD1312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02937"/>
            <a:ext cx="12192000" cy="3238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789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8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9A04E9-DA09-44FE-AB0C-6C47A1A96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0632" y="365125"/>
            <a:ext cx="4349415" cy="434975"/>
          </a:xfrm>
        </p:spPr>
        <p:txBody>
          <a:bodyPr rtlCol="0">
            <a:normAutofit/>
          </a:bodyPr>
          <a:lstStyle/>
          <a:p>
            <a:pPr latinLnBrk="1"/>
            <a:r>
              <a:rPr lang="es-ES" sz="2400" b="0" dirty="0"/>
              <a:t>📍 Los 2 </a:t>
            </a:r>
            <a:r>
              <a:rPr lang="es-ES" sz="2400" b="0" dirty="0" err="1"/>
              <a:t>clusters</a:t>
            </a:r>
            <a:r>
              <a:rPr lang="es-ES" sz="2400" b="0" dirty="0"/>
              <a:t> identificados</a:t>
            </a:r>
          </a:p>
        </p:txBody>
      </p:sp>
      <p:sp>
        <p:nvSpPr>
          <p:cNvPr id="73" name="Marcador de fecha 72">
            <a:extLst>
              <a:ext uri="{FF2B5EF4-FFF2-40B4-BE49-F238E27FC236}">
                <a16:creationId xmlns:a16="http://schemas.microsoft.com/office/drawing/2014/main" id="{794A853F-6A74-4312-963C-7D9CE9605C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74" name="Marcador de pie de página 73">
            <a:extLst>
              <a:ext uri="{FF2B5EF4-FFF2-40B4-BE49-F238E27FC236}">
                <a16:creationId xmlns:a16="http://schemas.microsoft.com/office/drawing/2014/main" id="{A4648D3F-2F3B-4193-B6E5-96EB70349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75" name="Marcador de número de diapositiva 74">
            <a:extLst>
              <a:ext uri="{FF2B5EF4-FFF2-40B4-BE49-F238E27FC236}">
                <a16:creationId xmlns:a16="http://schemas.microsoft.com/office/drawing/2014/main" id="{A8F8D211-2ACA-493C-890C-B7F6B63CB1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11</a:t>
            </a:fld>
            <a:endParaRPr lang="es-ES"/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9D726758-D2A3-86B0-E0C9-10C3F846E93A}"/>
              </a:ext>
            </a:extLst>
          </p:cNvPr>
          <p:cNvSpPr txBox="1"/>
          <p:nvPr/>
        </p:nvSpPr>
        <p:spPr>
          <a:xfrm>
            <a:off x="174458" y="1124952"/>
            <a:ext cx="46757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s-ES"/>
              <a:t>CLUSTER 0 — "DESARROLLO RELATIVO" (82%)</a:t>
            </a:r>
          </a:p>
          <a:p>
            <a:pPr latinLnBrk="1"/>
            <a:r>
              <a:rPr lang="es-ES"/>
              <a:t>│ 1.504 registros país-año</a:t>
            </a:r>
          </a:p>
          <a:p>
            <a:pPr latinLnBrk="1"/>
            <a:r>
              <a:rPr lang="es-ES"/>
              <a:t>│ PIB: $21.820 | Gini: 35.1</a:t>
            </a:r>
          </a:p>
          <a:p>
            <a:pPr latinLnBrk="1"/>
            <a:r>
              <a:rPr lang="es-ES"/>
              <a:t>│ Mortalidad &lt;5: 10.8 | Pobreza 3$: 2.8%</a:t>
            </a:r>
          </a:p>
          <a:p>
            <a:pPr latinLnBrk="1"/>
            <a:r>
              <a:rPr lang="es-ES"/>
              <a:t>│ Ejemplos: Uruguay, Argentina, Ecuador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05511B1F-42BC-2C18-5C9C-2B106EB495CE}"/>
              </a:ext>
            </a:extLst>
          </p:cNvPr>
          <p:cNvSpPr txBox="1"/>
          <p:nvPr/>
        </p:nvSpPr>
        <p:spPr>
          <a:xfrm>
            <a:off x="108284" y="3868152"/>
            <a:ext cx="433394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s-ES" dirty="0"/>
              <a:t>CLUSTER 1 — "SITUACIÓN CRÍTICA" (18%)</a:t>
            </a:r>
          </a:p>
          <a:p>
            <a:pPr latinLnBrk="1"/>
            <a:r>
              <a:rPr lang="es-ES" dirty="0"/>
              <a:t>│ 329 registros país-año</a:t>
            </a:r>
          </a:p>
          <a:p>
            <a:pPr latinLnBrk="1"/>
            <a:r>
              <a:rPr lang="es-ES" dirty="0"/>
              <a:t>│ PIB: $1.569 | Gini: 43.2</a:t>
            </a:r>
          </a:p>
          <a:p>
            <a:pPr latinLnBrk="1"/>
            <a:r>
              <a:rPr lang="es-ES" dirty="0"/>
              <a:t>│ Mortalidad &lt;5: 68.2 | Pobreza 3$: 39.5%</a:t>
            </a:r>
          </a:p>
          <a:p>
            <a:pPr latinLnBrk="1"/>
            <a:r>
              <a:rPr lang="es-ES" dirty="0"/>
              <a:t>│ Ejemplos: Nigeria, Chad, Ruanda</a:t>
            </a:r>
          </a:p>
          <a:p>
            <a:endParaRPr lang="es-ES" dirty="0"/>
          </a:p>
        </p:txBody>
      </p:sp>
      <p:pic>
        <p:nvPicPr>
          <p:cNvPr id="47" name="Imagen 46">
            <a:extLst>
              <a:ext uri="{FF2B5EF4-FFF2-40B4-BE49-F238E27FC236}">
                <a16:creationId xmlns:a16="http://schemas.microsoft.com/office/drawing/2014/main" id="{740E5891-D73B-258F-4BBD-C13053089D9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162" y="0"/>
            <a:ext cx="7341838" cy="6858000"/>
          </a:xfrm>
          <a:prstGeom prst="rect">
            <a:avLst/>
          </a:prstGeom>
        </p:spPr>
      </p:pic>
      <p:pic>
        <p:nvPicPr>
          <p:cNvPr id="48" name="ttsmaker-file-2026-9-17-21-44-27">
            <a:hlinkClick r:id="" action="ppaction://media"/>
            <a:extLst>
              <a:ext uri="{FF2B5EF4-FFF2-40B4-BE49-F238E27FC236}">
                <a16:creationId xmlns:a16="http://schemas.microsoft.com/office/drawing/2014/main" id="{CFEA1732-D1E9-DAA3-7CC1-C7EA65986E2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081004" y="5807409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546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412" fill="hold"/>
                                        <p:tgtEl>
                                          <p:spTgt spid="4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8"/>
                </p:tgtEl>
              </p:cMediaNode>
            </p:audio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226552-D211-4D34-862F-65A44D0DE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679" y="431398"/>
            <a:ext cx="6922168" cy="651543"/>
          </a:xfrm>
        </p:spPr>
        <p:txBody>
          <a:bodyPr rtlCol="0">
            <a:normAutofit fontScale="90000"/>
          </a:bodyPr>
          <a:lstStyle/>
          <a:p>
            <a:pPr latinLnBrk="1"/>
            <a:r>
              <a:rPr lang="es-ES" b="0" dirty="0"/>
              <a:t>🔗 TÉCNICA 3: ASOCIACIÓN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35D206B-B172-4CB9-906E-864531763C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140" y="1602436"/>
            <a:ext cx="5684520" cy="441552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1"/>
            <a:r>
              <a:rPr lang="es-ES" b="0" dirty="0"/>
              <a:t>VARIABLES DISCRETIZADAS</a:t>
            </a:r>
          </a:p>
          <a:p>
            <a:pPr rtl="0"/>
            <a:endParaRPr lang="es-ES" dirty="0"/>
          </a:p>
          <a:p>
            <a:pPr rtl="0"/>
            <a:endParaRPr lang="es-ES" dirty="0"/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C3BF054-FDBC-4318-8DA7-42C337A16B1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38200" y="2043988"/>
            <a:ext cx="5684520" cy="1106942"/>
          </a:xfrm>
        </p:spPr>
        <p:txBody>
          <a:bodyPr rtlCol="0">
            <a:normAutofit fontScale="77500" lnSpcReduction="20000"/>
          </a:bodyPr>
          <a:lstStyle/>
          <a:p>
            <a:pPr latinLnBrk="1"/>
            <a:r>
              <a:rPr lang="es-ES" dirty="0"/>
              <a:t>• PIB: Bajo (&lt;$2k) / Medio / Alto (&gt;$15k)</a:t>
            </a:r>
          </a:p>
          <a:p>
            <a:pPr latinLnBrk="1"/>
            <a:r>
              <a:rPr lang="es-ES" dirty="0"/>
              <a:t>• Gini: Bajo (&lt;33) / Medio / Alto (&gt;42)</a:t>
            </a:r>
          </a:p>
          <a:p>
            <a:pPr latinLnBrk="1"/>
            <a:r>
              <a:rPr lang="es-ES" dirty="0"/>
              <a:t>• Mortalidad: Baja (&lt;15) / Media / Alta (&gt;50)</a:t>
            </a:r>
          </a:p>
          <a:p>
            <a:pPr latinLnBrk="1"/>
            <a:r>
              <a:rPr lang="es-ES" dirty="0"/>
              <a:t>• Pobreza: Baja (&lt;2%) / Media / Alta (&gt;20%)</a:t>
            </a:r>
          </a:p>
          <a:p>
            <a:pPr rtl="0"/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A7EB14-0C1E-4251-9589-93AC9E21E79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838200" y="3205146"/>
            <a:ext cx="5684520" cy="441552"/>
          </a:xfrm>
        </p:spPr>
        <p:txBody>
          <a:bodyPr rtlCol="0"/>
          <a:lstStyle/>
          <a:p>
            <a:pPr latinLnBrk="1"/>
            <a:r>
              <a:rPr lang="es-ES" b="0" dirty="0"/>
              <a:t>PARÁMETROS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3FF079C-3BCA-4686-AD7A-952F84BCE89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739140" y="3592482"/>
            <a:ext cx="5684520" cy="441552"/>
          </a:xfrm>
        </p:spPr>
        <p:txBody>
          <a:bodyPr rtlCol="0"/>
          <a:lstStyle/>
          <a:p>
            <a:pPr latinLnBrk="1"/>
            <a:r>
              <a:rPr lang="es-ES" dirty="0"/>
              <a:t>Soporte ≥ 5% | Confianza ≥ 60% | </a:t>
            </a:r>
            <a:r>
              <a:rPr lang="es-ES" dirty="0" err="1"/>
              <a:t>Lift</a:t>
            </a:r>
            <a:r>
              <a:rPr lang="es-ES" dirty="0"/>
              <a:t> &gt; 1.1</a:t>
            </a:r>
          </a:p>
        </p:txBody>
      </p:sp>
      <p:sp>
        <p:nvSpPr>
          <p:cNvPr id="32" name="Marcador de fecha 31">
            <a:extLst>
              <a:ext uri="{FF2B5EF4-FFF2-40B4-BE49-F238E27FC236}">
                <a16:creationId xmlns:a16="http://schemas.microsoft.com/office/drawing/2014/main" id="{5F26D092-3C6C-4E03-9A13-3D2D961FE985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838200" y="6356350"/>
            <a:ext cx="2743200" cy="365125"/>
          </a:xfrm>
        </p:spPr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33" name="Marcador de pie de página 32">
            <a:extLst>
              <a:ext uri="{FF2B5EF4-FFF2-40B4-BE49-F238E27FC236}">
                <a16:creationId xmlns:a16="http://schemas.microsoft.com/office/drawing/2014/main" id="{3B22FC8B-BB98-4F77-B312-6234F9CB335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4038600" y="6356350"/>
            <a:ext cx="4114800" cy="365125"/>
          </a:xfrm>
        </p:spPr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34" name="Marcador de número de diapositiva 33">
            <a:extLst>
              <a:ext uri="{FF2B5EF4-FFF2-40B4-BE49-F238E27FC236}">
                <a16:creationId xmlns:a16="http://schemas.microsoft.com/office/drawing/2014/main" id="{FAED4C67-6AD4-4960-9032-B8D5435CD9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12</a:t>
            </a:fld>
            <a:endParaRPr lang="es-E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30437D83-FFDE-6F1D-4394-8D7D6D74FCDC}"/>
              </a:ext>
            </a:extLst>
          </p:cNvPr>
          <p:cNvSpPr txBox="1"/>
          <p:nvPr/>
        </p:nvSpPr>
        <p:spPr>
          <a:xfrm>
            <a:off x="1552074" y="1142137"/>
            <a:ext cx="3454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>
                <a:solidFill>
                  <a:schemeClr val="bg1"/>
                </a:solidFill>
              </a:rPr>
              <a:t>Descubrir reglas entre indicadores</a:t>
            </a:r>
          </a:p>
          <a:p>
            <a:endParaRPr lang="es-ES" dirty="0"/>
          </a:p>
        </p:txBody>
      </p:sp>
      <p:sp>
        <p:nvSpPr>
          <p:cNvPr id="9" name="Marcador de contenido 3">
            <a:extLst>
              <a:ext uri="{FF2B5EF4-FFF2-40B4-BE49-F238E27FC236}">
                <a16:creationId xmlns:a16="http://schemas.microsoft.com/office/drawing/2014/main" id="{7D533E04-B641-5F94-7020-3E1A3097A0D2}"/>
              </a:ext>
            </a:extLst>
          </p:cNvPr>
          <p:cNvSpPr txBox="1">
            <a:spLocks/>
          </p:cNvSpPr>
          <p:nvPr/>
        </p:nvSpPr>
        <p:spPr>
          <a:xfrm>
            <a:off x="838200" y="4067585"/>
            <a:ext cx="5684520" cy="441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800" b="1" kern="1200" dirty="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s-ES" b="0" dirty="0"/>
              <a:t>PARÁMETROS</a:t>
            </a:r>
          </a:p>
        </p:txBody>
      </p:sp>
      <p:sp>
        <p:nvSpPr>
          <p:cNvPr id="10" name="Marcador de contenido 5">
            <a:extLst>
              <a:ext uri="{FF2B5EF4-FFF2-40B4-BE49-F238E27FC236}">
                <a16:creationId xmlns:a16="http://schemas.microsoft.com/office/drawing/2014/main" id="{15B5A244-8C58-B3A7-0C6D-3AE32EAF7931}"/>
              </a:ext>
            </a:extLst>
          </p:cNvPr>
          <p:cNvSpPr txBox="1">
            <a:spLocks/>
          </p:cNvSpPr>
          <p:nvPr/>
        </p:nvSpPr>
        <p:spPr>
          <a:xfrm>
            <a:off x="739140" y="4552336"/>
            <a:ext cx="5684520" cy="441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atinLnBrk="1"/>
            <a:r>
              <a:rPr lang="es-ES" dirty="0"/>
              <a:t>85 reglas de asociación descubiertas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792DDB8B-4EE5-BEA3-5892-74FF4F2014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350" y="1720517"/>
            <a:ext cx="7244341" cy="4767816"/>
          </a:xfrm>
          <a:prstGeom prst="rect">
            <a:avLst/>
          </a:prstGeom>
        </p:spPr>
      </p:pic>
      <p:pic>
        <p:nvPicPr>
          <p:cNvPr id="13" name="ttsmaker-file-2026-9-17-21-48-53">
            <a:hlinkClick r:id="" action="ppaction://media"/>
            <a:extLst>
              <a:ext uri="{FF2B5EF4-FFF2-40B4-BE49-F238E27FC236}">
                <a16:creationId xmlns:a16="http://schemas.microsoft.com/office/drawing/2014/main" id="{7D97F67C-FBF8-7691-E5DA-CBC058E534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453983" y="5384236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911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0356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3"/>
                </p:tgtEl>
              </p:cMediaNode>
            </p:audio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96FB20-F916-376D-2C0D-BBEC7B547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561" y="1733926"/>
            <a:ext cx="8155405" cy="675607"/>
          </a:xfrm>
        </p:spPr>
        <p:txBody>
          <a:bodyPr>
            <a:normAutofit fontScale="90000"/>
          </a:bodyPr>
          <a:lstStyle/>
          <a:p>
            <a:r>
              <a:rPr lang="es-ES" b="0" dirty="0"/>
              <a:t>⭐ </a:t>
            </a:r>
            <a:r>
              <a:rPr lang="es-ES" sz="3100" b="0" dirty="0"/>
              <a:t>LA REGLA DE ORO DEL ANÁLISIS</a:t>
            </a:r>
            <a:br>
              <a:rPr lang="es-ES" b="0" dirty="0"/>
            </a:br>
            <a:endParaRPr lang="es-E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4F3FC22-7903-0A09-5D3C-30CC7B982E1A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rtl="0"/>
            <a:r>
              <a:rPr lang="es-ES" noProof="0"/>
              <a:t>29/7/20XX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438B06A-2299-749B-881E-65A36C91C1B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730FD12-7774-4BE2-EE2F-BC93BAC23C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pPr rtl="0"/>
              <a:t>13</a:t>
            </a:fld>
            <a:endParaRPr lang="es-ES" noProof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DFEB8F3-C551-26EB-0B0A-7C6E6972D5A6}"/>
              </a:ext>
            </a:extLst>
          </p:cNvPr>
          <p:cNvSpPr txBox="1"/>
          <p:nvPr/>
        </p:nvSpPr>
        <p:spPr>
          <a:xfrm>
            <a:off x="624137" y="2690336"/>
            <a:ext cx="609700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INTERPRETACIÓN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• PIB per cápita ↔ Mortalidad: -0.62 (fuerte negativa)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• PIB per cápita ↔ Pobreza:      -0.65 (fuerte negativa)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• Mortalidad ↔ Pobreza:           +0.78 (muy fuerte positiva)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• Gini ↔ Mortalidad:                  +0.35 (moderada positiva)</a:t>
            </a:r>
            <a:endParaRPr lang="es-ES" sz="975" b="0" dirty="0">
              <a:solidFill>
                <a:schemeClr val="bg1"/>
              </a:solidFill>
              <a:effectLst/>
              <a:latin typeface="Menlo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10F6C33-56FC-67CF-7A59-0C2AB5015A2E}"/>
              </a:ext>
            </a:extLst>
          </p:cNvPr>
          <p:cNvSpPr txBox="1"/>
          <p:nvPr/>
        </p:nvSpPr>
        <p:spPr>
          <a:xfrm>
            <a:off x="1243763" y="4947098"/>
            <a:ext cx="609700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CONCLUSIÓN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El PIB es el factor protector por excelencia.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La pobreza y la mortalidad se refuerzan mutuamente.</a:t>
            </a:r>
            <a:endParaRPr lang="es-ES" sz="975" b="0" dirty="0">
              <a:solidFill>
                <a:schemeClr val="bg1"/>
              </a:solidFill>
              <a:effectLst/>
              <a:latin typeface="Menlo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64E5E810-341D-53C8-D959-2D106F838A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068" y="1257300"/>
            <a:ext cx="5688931" cy="5600701"/>
          </a:xfrm>
          <a:prstGeom prst="rect">
            <a:avLst/>
          </a:prstGeom>
        </p:spPr>
      </p:pic>
      <p:pic>
        <p:nvPicPr>
          <p:cNvPr id="16" name="ttsmaker-file-2026-9-17-21-53-4">
            <a:hlinkClick r:id="" action="ppaction://media"/>
            <a:extLst>
              <a:ext uri="{FF2B5EF4-FFF2-40B4-BE49-F238E27FC236}">
                <a16:creationId xmlns:a16="http://schemas.microsoft.com/office/drawing/2014/main" id="{B434C22F-5AA4-434F-AF15-55FC0601BAA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097673" y="586898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51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468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6"/>
                </p:tgtEl>
              </p:cMediaNode>
            </p:audi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906A56-0957-6A18-261B-D995473E78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2325"/>
            <a:ext cx="6753726" cy="1385470"/>
          </a:xfrm>
        </p:spPr>
        <p:txBody>
          <a:bodyPr>
            <a:normAutofit/>
          </a:bodyPr>
          <a:lstStyle/>
          <a:p>
            <a:r>
              <a:rPr lang="es-ES" sz="3600" b="0" dirty="0"/>
              <a:t>🔑 LOS 3 HALLAZGOS CLAVE</a:t>
            </a:r>
            <a:br>
              <a:rPr lang="es-ES" b="0" dirty="0"/>
            </a:br>
            <a:endParaRPr lang="es-E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0D04ED8-16D6-8425-C494-52ABA24F837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pPr rtl="0"/>
            <a:r>
              <a:rPr lang="es-ES" noProof="0"/>
              <a:t>29/7/20XX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4D00908-CB79-B7DC-EBEC-C51E53C1D02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882673B-5F42-5FE9-4481-E15ABCFF02C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pPr rtl="0"/>
              <a:t>14</a:t>
            </a:fld>
            <a:endParaRPr lang="es-ES" noProof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CEE994-61CF-7088-CCF2-190D301CF4E2}"/>
              </a:ext>
            </a:extLst>
          </p:cNvPr>
          <p:cNvSpPr txBox="1"/>
          <p:nvPr/>
        </p:nvSpPr>
        <p:spPr>
          <a:xfrm>
            <a:off x="81714" y="1698384"/>
            <a:ext cx="609700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1️⃣ EL PIB ES EL PREDICTOR DOMINANTE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  Explica el 44.9% de la capacidad predictiva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2️⃣ DOS MUNDOS SEPARADOS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  82% países en desarrollo vs 18% en situación crítica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3️⃣ LA TRAMPA DE LA POBREZA ES CUANTIFICABLE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  PIB bajo + pobreza alta → mortalidad alta (</a:t>
            </a:r>
            <a:r>
              <a:rPr lang="es-ES" sz="1800" b="0" dirty="0" err="1">
                <a:solidFill>
                  <a:schemeClr val="bg1"/>
                </a:solidFill>
                <a:effectLst/>
                <a:latin typeface="+mn-lt"/>
              </a:rPr>
              <a:t>lift</a:t>
            </a: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= 6.37)</a:t>
            </a:r>
            <a:endParaRPr lang="es-ES" sz="975" b="0" dirty="0">
              <a:solidFill>
                <a:schemeClr val="bg1"/>
              </a:solidFill>
              <a:effectLst/>
              <a:latin typeface="Menlo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F171D407-E363-1483-4BE0-AE7E5DC5B5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9209" y="1693051"/>
            <a:ext cx="6621077" cy="4627314"/>
          </a:xfrm>
          <a:prstGeom prst="rect">
            <a:avLst/>
          </a:prstGeom>
        </p:spPr>
      </p:pic>
      <p:pic>
        <p:nvPicPr>
          <p:cNvPr id="14" name="ttsmaker-file-2026-9-17-21-56-5">
            <a:hlinkClick r:id="" action="ppaction://media"/>
            <a:extLst>
              <a:ext uri="{FF2B5EF4-FFF2-40B4-BE49-F238E27FC236}">
                <a16:creationId xmlns:a16="http://schemas.microsoft.com/office/drawing/2014/main" id="{C2AB0CBC-24F6-707F-8E64-F79E25A9FB8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14830" y="5452478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2047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7908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4"/>
                </p:tgtEl>
              </p:cMediaNode>
            </p:audio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FA191-5CCC-43CB-BD83-4F80ED362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0430978" cy="737734"/>
          </a:xfrm>
        </p:spPr>
        <p:txBody>
          <a:bodyPr rtlCol="0">
            <a:normAutofit fontScale="90000"/>
          </a:bodyPr>
          <a:lstStyle/>
          <a:p>
            <a:pPr latinLnBrk="1"/>
            <a:r>
              <a:rPr lang="es-ES" b="0" dirty="0"/>
              <a:t>💡 </a:t>
            </a:r>
            <a:r>
              <a:rPr lang="es-ES" b="0" dirty="0">
                <a:solidFill>
                  <a:schemeClr val="tx1"/>
                </a:solidFill>
              </a:rPr>
              <a:t>MEJORAS APLICABLES: FUENTES DE DATOS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4BBEAF-B516-45F4-9EF6-A9F651115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75" y="1503947"/>
            <a:ext cx="7651192" cy="470090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atinLnBrk="1"/>
            <a:r>
              <a:rPr lang="es-ES" dirty="0">
                <a:solidFill>
                  <a:schemeClr val="tx1"/>
                </a:solidFill>
              </a:rPr>
              <a:t>PROBLEMAS DETECTADOS</a:t>
            </a:r>
          </a:p>
          <a:p>
            <a:pPr latinLnBrk="1"/>
            <a:r>
              <a:rPr lang="es-ES" dirty="0">
                <a:solidFill>
                  <a:schemeClr val="tx1"/>
                </a:solidFill>
              </a:rPr>
              <a:t>❌ Datos de pobreza infantil solo cubren 0.5% de registros</a:t>
            </a:r>
          </a:p>
          <a:p>
            <a:pPr latinLnBrk="1"/>
            <a:r>
              <a:rPr lang="es-ES" dirty="0">
                <a:solidFill>
                  <a:schemeClr val="tx1"/>
                </a:solidFill>
              </a:rPr>
              <a:t>❌ Variables clave faltantes: educación infantil, acceso a agua</a:t>
            </a:r>
          </a:p>
          <a:p>
            <a:pPr latinLnBrk="1"/>
            <a:r>
              <a:rPr lang="es-ES" dirty="0">
                <a:solidFill>
                  <a:schemeClr val="tx1"/>
                </a:solidFill>
              </a:rPr>
              <a:t>❌ Datos desactualizados en algunos países (últimos 5 años)</a:t>
            </a:r>
          </a:p>
          <a:p>
            <a:pPr latinLnBrk="1"/>
            <a:endParaRPr lang="es-ES" dirty="0"/>
          </a:p>
          <a:p>
            <a:pPr latinLnBrk="1"/>
            <a:endParaRPr lang="es-ES" dirty="0"/>
          </a:p>
          <a:p>
            <a:pPr latinLnBrk="1"/>
            <a:r>
              <a:rPr lang="es-ES" dirty="0"/>
              <a:t>MEJORAS PROPUESTAS</a:t>
            </a:r>
          </a:p>
          <a:p>
            <a:pPr latinLnBrk="1"/>
            <a:r>
              <a:rPr lang="es-ES" dirty="0"/>
              <a:t>✅ Integrar fuentes adicionales (OMS, UNESCO, FAO)</a:t>
            </a:r>
          </a:p>
          <a:p>
            <a:pPr latinLnBrk="1"/>
            <a:r>
              <a:rPr lang="es-ES" dirty="0"/>
              <a:t>✅ Ampliar con datos </a:t>
            </a:r>
            <a:r>
              <a:rPr lang="es-ES" dirty="0" err="1"/>
              <a:t>sub-nacionales</a:t>
            </a:r>
            <a:r>
              <a:rPr lang="es-ES" dirty="0"/>
              <a:t> (por región/provincia)</a:t>
            </a:r>
          </a:p>
          <a:p>
            <a:pPr latinLnBrk="1"/>
            <a:r>
              <a:rPr lang="es-ES" dirty="0"/>
              <a:t>✅ Incorporar indicadores cualitativos (gobernanza, conflictos)</a:t>
            </a:r>
          </a:p>
          <a:p>
            <a:pPr latinLnBrk="1"/>
            <a:r>
              <a:rPr lang="es-ES" dirty="0"/>
              <a:t>✅ Establecer pipeline de actualización anual automática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A31818-326D-4287-B1AE-435C12F0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317DFAA-582C-42B0-90C4-9DAA9C139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942E2BA-3D9C-4A41-A42E-C08CE009D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15</a:t>
            </a:fld>
            <a:endParaRPr lang="es-ES"/>
          </a:p>
        </p:txBody>
      </p:sp>
      <p:pic>
        <p:nvPicPr>
          <p:cNvPr id="4" name="ttsmaker-file-2026-9-17-21-58-31">
            <a:hlinkClick r:id="" action="ppaction://media"/>
            <a:extLst>
              <a:ext uri="{FF2B5EF4-FFF2-40B4-BE49-F238E27FC236}">
                <a16:creationId xmlns:a16="http://schemas.microsoft.com/office/drawing/2014/main" id="{D33C91A2-1910-7EA8-6808-4053BC49595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430978" y="577131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173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75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B1F382-AC23-D4CC-3AE9-AB931642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0" y="549726"/>
            <a:ext cx="10424962" cy="737734"/>
          </a:xfrm>
        </p:spPr>
        <p:txBody>
          <a:bodyPr>
            <a:normAutofit fontScale="90000"/>
          </a:bodyPr>
          <a:lstStyle/>
          <a:p>
            <a:r>
              <a:rPr lang="es-ES" b="0" dirty="0"/>
              <a:t>💡 </a:t>
            </a:r>
            <a:r>
              <a:rPr lang="es-ES" sz="4000" b="0" dirty="0">
                <a:solidFill>
                  <a:schemeClr val="tx1"/>
                </a:solidFill>
              </a:rPr>
              <a:t>MEJORAS APLICABLES: MODELO PREDICTIVO</a:t>
            </a:r>
            <a:br>
              <a:rPr lang="es-ES" b="0" dirty="0"/>
            </a:b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8C6F689-0FBB-D9AF-E47C-EB2C708B5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ES" noProof="0"/>
              <a:t>29/7/20XX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0CBA43-20D9-5449-B7EC-D30900E02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2C87FB-48BF-C654-69F4-3A37FA7AAB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pPr rtl="0"/>
              <a:t>16</a:t>
            </a:fld>
            <a:endParaRPr lang="es-ES" noProof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2B4463D-7E67-2A6F-EC86-EBBEF0CD2E5A}"/>
              </a:ext>
            </a:extLst>
          </p:cNvPr>
          <p:cNvSpPr txBox="1"/>
          <p:nvPr/>
        </p:nvSpPr>
        <p:spPr>
          <a:xfrm>
            <a:off x="648201" y="1287460"/>
            <a:ext cx="616919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PROPUESTAS TÉCNICAS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1. REENTRENAMIENTO ANUAL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Evitar "concept </a:t>
            </a:r>
            <a:r>
              <a:rPr lang="es-ES" sz="1800" b="0" dirty="0" err="1">
                <a:solidFill>
                  <a:schemeClr val="tx1"/>
                </a:solidFill>
                <a:effectLst/>
                <a:latin typeface="+mn-lt"/>
              </a:rPr>
              <a:t>drift</a:t>
            </a: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" con nuevos datos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2. INCORPORAR SERIES TEMPORALES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Modelos LSTM/GRU para capturar tendencias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3. ANÁLISIS CAUSAL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  Aplicar métodos como </a:t>
            </a:r>
            <a:r>
              <a:rPr lang="es-ES" sz="1800" b="0" dirty="0" err="1">
                <a:solidFill>
                  <a:schemeClr val="bg1"/>
                </a:solidFill>
                <a:effectLst/>
                <a:latin typeface="+mn-lt"/>
              </a:rPr>
              <a:t>DoWhy</a:t>
            </a: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para inferencia causal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4. AMPLIAR A MÁS CLASES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  Clasificación multiclase (bajo/medio/alto/crítico)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5. DASHBOARD INTERACTIVO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  Power BI con actualización automática</a:t>
            </a:r>
            <a:endParaRPr lang="es-ES" sz="975" b="0" dirty="0">
              <a:solidFill>
                <a:schemeClr val="bg1"/>
              </a:solidFill>
              <a:effectLst/>
              <a:latin typeface="Menlo"/>
            </a:endParaRPr>
          </a:p>
        </p:txBody>
      </p:sp>
      <p:pic>
        <p:nvPicPr>
          <p:cNvPr id="9" name="ttsmaker-file-2026-9-17-22-1-31">
            <a:hlinkClick r:id="" action="ppaction://media"/>
            <a:extLst>
              <a:ext uri="{FF2B5EF4-FFF2-40B4-BE49-F238E27FC236}">
                <a16:creationId xmlns:a16="http://schemas.microsoft.com/office/drawing/2014/main" id="{610C2AC2-9FE3-E464-096B-B7BC0139A93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253870" y="556809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3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696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876DE2-195F-292D-7A6B-9461BA509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1" y="579805"/>
            <a:ext cx="10479104" cy="737734"/>
          </a:xfrm>
        </p:spPr>
        <p:txBody>
          <a:bodyPr>
            <a:normAutofit fontScale="90000"/>
          </a:bodyPr>
          <a:lstStyle/>
          <a:p>
            <a:r>
              <a:rPr lang="es-ES" b="0" dirty="0"/>
              <a:t>🏛️ </a:t>
            </a:r>
            <a:r>
              <a:rPr lang="es-ES" b="0" dirty="0">
                <a:solidFill>
                  <a:schemeClr val="tx1"/>
                </a:solidFill>
              </a:rPr>
              <a:t>RECOMENDACIONES DE POLÍTICA PÚBLICA</a:t>
            </a:r>
            <a:br>
              <a:rPr lang="es-ES" b="0" dirty="0"/>
            </a:b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0F3FC9A-9BE4-9EF8-B926-65430345A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ES" noProof="0"/>
              <a:t>29/7/20XX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817C472-3EC2-5672-91E6-A5F4F67EA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E60A3D-D4BD-9CFF-F4A8-C55F6C5EA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pPr rtl="0"/>
              <a:t>17</a:t>
            </a:fld>
            <a:endParaRPr lang="es-ES" noProof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1FE2FBB-B7C9-C741-A18B-DE2EAEEFFC36}"/>
              </a:ext>
            </a:extLst>
          </p:cNvPr>
          <p:cNvSpPr txBox="1"/>
          <p:nvPr/>
        </p:nvSpPr>
        <p:spPr>
          <a:xfrm>
            <a:off x="882817" y="1004679"/>
            <a:ext cx="616919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R1 | PAÍSES CON DESARROLLO RELATIVO (82%)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  → Programas de prevención temprana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  → Objetivo: mantener mortalidad &lt;15/1000 en 2027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R2 | PAÍSES EN SITUACIÓN CRÍTICA (18%)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  → Intervención humanitaria integral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tx1"/>
                </a:solidFill>
                <a:effectLst/>
                <a:latin typeface="+mn-lt"/>
              </a:rPr>
              <a:t>     → Objetivo: reducir mortalidad 30% y pobreza 25% en 3 años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R3 | SISTEMA DE ALERTA TEMPRANA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    → Basado en PIB bajo + pobreza alta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    → Objetivo: identificar 100% países en riesgo en 6 meses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R4 | OPTIMIZACIÓN PRESUPUESTARIA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    → Priorizar desarrollo económico como base de salud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    → Objetivo: +5% PIB per cápita anual en países críticos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endParaRPr lang="es-ES" sz="1800" b="0" dirty="0">
              <a:solidFill>
                <a:schemeClr val="bg1"/>
              </a:solidFill>
              <a:effectLst/>
              <a:latin typeface="+mn-lt"/>
            </a:endParaRP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R5 | MONITOREO CONTINUO</a:t>
            </a:r>
          </a:p>
          <a:p>
            <a:pPr marL="0" marR="0" indent="0" algn="l" latinLnBrk="1">
              <a:lnSpc>
                <a:spcPct val="100000"/>
              </a:lnSpc>
              <a:buNone/>
            </a:pPr>
            <a:r>
              <a:rPr lang="es-ES" sz="1800" b="0" dirty="0">
                <a:solidFill>
                  <a:schemeClr val="bg1"/>
                </a:solidFill>
                <a:effectLst/>
                <a:latin typeface="+mn-lt"/>
              </a:rPr>
              <a:t>     → Pipeline predictivo anual automatizado</a:t>
            </a:r>
            <a:endParaRPr lang="es-ES" sz="975" b="0" dirty="0">
              <a:solidFill>
                <a:schemeClr val="bg1"/>
              </a:solidFill>
              <a:effectLst/>
              <a:latin typeface="Menlo"/>
            </a:endParaRPr>
          </a:p>
        </p:txBody>
      </p:sp>
    </p:spTree>
    <p:extLst>
      <p:ext uri="{BB962C8B-B14F-4D97-AF65-F5344CB8AC3E}">
        <p14:creationId xmlns:p14="http://schemas.microsoft.com/office/powerpoint/2010/main" val="21938987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44C567-CAFC-6FF3-90D7-D67A1BFEE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67774"/>
            <a:ext cx="11116779" cy="737734"/>
          </a:xfrm>
        </p:spPr>
        <p:txBody>
          <a:bodyPr>
            <a:normAutofit fontScale="90000"/>
          </a:bodyPr>
          <a:lstStyle/>
          <a:p>
            <a:r>
              <a:rPr lang="es-ES" sz="3600" b="0">
                <a:solidFill>
                  <a:schemeClr val="tx1"/>
                </a:solidFill>
              </a:rPr>
              <a:t>📚 CONSEJOS PARA MEJORAR EL USO DE ESTADÍSTICAS</a:t>
            </a:r>
            <a:br>
              <a:rPr lang="es-ES" b="0"/>
            </a:b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7E475D8-BE1C-54FB-227A-CE34D635D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ES" noProof="0"/>
              <a:t>29/7/20XX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5F43A9-6BBA-576E-8319-7AB350E46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C26D8-752F-61F2-1DB3-047EDE8A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pPr rtl="0"/>
              <a:t>18</a:t>
            </a:fld>
            <a:endParaRPr lang="es-ES" noProof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D6C3D61-A8B4-69EC-477D-5F9E68347D0F}"/>
              </a:ext>
            </a:extLst>
          </p:cNvPr>
          <p:cNvSpPr txBox="1"/>
          <p:nvPr/>
        </p:nvSpPr>
        <p:spPr>
          <a:xfrm>
            <a:off x="619626" y="1149016"/>
            <a:ext cx="645494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s-ES" dirty="0"/>
              <a:t>⚠️ CUIDADO CON LAS CORRELACIONES ESPURIAS</a:t>
            </a:r>
          </a:p>
          <a:p>
            <a:pPr latinLnBrk="1"/>
            <a:r>
              <a:rPr lang="es-ES" dirty="0"/>
              <a:t>   Correlación ≠ Causalidad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🎯 EVITAR EL SESGO DE SUPERVIVENCIA</a:t>
            </a:r>
          </a:p>
          <a:p>
            <a:pPr latinLnBrk="1"/>
            <a:r>
              <a:rPr lang="es-ES" dirty="0"/>
              <a:t>   Los datos de países sin registros no significan "sin problema"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📊 USAR MÚLTIPLES FUENTES</a:t>
            </a:r>
          </a:p>
          <a:p>
            <a:pPr latinLnBrk="1"/>
            <a:r>
              <a:rPr lang="es-ES" dirty="0"/>
              <a:t>   Triangulación de datos para mayor robustez</a:t>
            </a:r>
          </a:p>
          <a:p>
            <a:pPr latinLnBrk="1"/>
            <a:endParaRPr lang="es-ES" dirty="0">
              <a:solidFill>
                <a:schemeClr val="bg1"/>
              </a:solidFill>
            </a:endParaRPr>
          </a:p>
          <a:p>
            <a:pPr latinLnBrk="1"/>
            <a:r>
              <a:rPr lang="es-ES" dirty="0">
                <a:solidFill>
                  <a:schemeClr val="bg1"/>
                </a:solidFill>
              </a:rPr>
              <a:t>🔄 ACTUALIZAR ANUALMENTE</a:t>
            </a:r>
          </a:p>
          <a:p>
            <a:pPr latinLnBrk="1"/>
            <a:r>
              <a:rPr lang="es-ES" dirty="0">
                <a:solidFill>
                  <a:schemeClr val="bg1"/>
                </a:solidFill>
              </a:rPr>
              <a:t>   Los datos socioeconómicos cambian rápido</a:t>
            </a:r>
          </a:p>
          <a:p>
            <a:pPr latinLnBrk="1"/>
            <a:endParaRPr lang="es-ES" dirty="0">
              <a:solidFill>
                <a:schemeClr val="bg1"/>
              </a:solidFill>
            </a:endParaRPr>
          </a:p>
          <a:p>
            <a:pPr latinLnBrk="1"/>
            <a:r>
              <a:rPr lang="es-ES" dirty="0">
                <a:solidFill>
                  <a:schemeClr val="bg1"/>
                </a:solidFill>
              </a:rPr>
              <a:t>🧪 VALIDAR CON EXPERTOS</a:t>
            </a:r>
          </a:p>
          <a:p>
            <a:pPr latinLnBrk="1"/>
            <a:r>
              <a:rPr lang="es-ES" dirty="0">
                <a:solidFill>
                  <a:schemeClr val="bg1"/>
                </a:solidFill>
              </a:rPr>
              <a:t>   Los números necesitan contexto humano</a:t>
            </a:r>
          </a:p>
          <a:p>
            <a:endParaRPr lang="es-ES" dirty="0"/>
          </a:p>
        </p:txBody>
      </p:sp>
      <p:pic>
        <p:nvPicPr>
          <p:cNvPr id="8" name="ttsmaker-file-2026-9-17-22-4-37">
            <a:hlinkClick r:id="" action="ppaction://media"/>
            <a:extLst>
              <a:ext uri="{FF2B5EF4-FFF2-40B4-BE49-F238E27FC236}">
                <a16:creationId xmlns:a16="http://schemas.microsoft.com/office/drawing/2014/main" id="{B5095F06-7840-39C4-FD0B-AF6A04CD88E1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194925" y="5396333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81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624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8"/>
                </p:tgtEl>
              </p:cMediaNode>
            </p:audio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68EB7F98-FF8D-2AE0-F294-0BFA735042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9806" y="2233696"/>
            <a:ext cx="6421420" cy="448777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F8312E36-D73B-8422-AC74-5F5BC582E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112" y="615899"/>
            <a:ext cx="5684520" cy="737734"/>
          </a:xfrm>
        </p:spPr>
        <p:txBody>
          <a:bodyPr>
            <a:normAutofit fontScale="90000"/>
          </a:bodyPr>
          <a:lstStyle/>
          <a:p>
            <a:r>
              <a:rPr lang="es-ES" b="0" dirty="0"/>
              <a:t>🎯 </a:t>
            </a:r>
            <a:r>
              <a:rPr lang="es-ES" b="0" dirty="0">
                <a:solidFill>
                  <a:schemeClr val="tx1"/>
                </a:solidFill>
              </a:rPr>
              <a:t>CONCLUSIONES</a:t>
            </a:r>
            <a:br>
              <a:rPr lang="es-ES" b="0" dirty="0"/>
            </a:b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B6F38B-3D80-EDC7-F5C6-2DCD4C504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ES" noProof="0"/>
              <a:t>29/7/20XX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B50A44-7579-9682-31C1-7C7E19E1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D05222-00FF-61B2-C45F-639831910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pPr rtl="0"/>
              <a:t>19</a:t>
            </a:fld>
            <a:endParaRPr lang="es-ES" noProof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5D06C31-3C97-6C2A-637C-CC90516B8A52}"/>
              </a:ext>
            </a:extLst>
          </p:cNvPr>
          <p:cNvSpPr txBox="1"/>
          <p:nvPr/>
        </p:nvSpPr>
        <p:spPr>
          <a:xfrm>
            <a:off x="1330967" y="842211"/>
            <a:ext cx="5415265" cy="28315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s-ES" sz="1600" dirty="0"/>
              <a:t>✅ Las técnicas avanzadas de Data </a:t>
            </a:r>
            <a:r>
              <a:rPr lang="es-ES" sz="1600" dirty="0" err="1"/>
              <a:t>Mining</a:t>
            </a:r>
            <a:r>
              <a:rPr lang="es-ES" sz="1600" dirty="0"/>
              <a:t> permiten:</a:t>
            </a:r>
          </a:p>
          <a:p>
            <a:pPr latinLnBrk="1"/>
            <a:r>
              <a:rPr lang="es-ES" sz="1600" dirty="0"/>
              <a:t>   • Predecir con 93% de precisión la mortalidad infantil</a:t>
            </a:r>
          </a:p>
          <a:p>
            <a:pPr latinLnBrk="1"/>
            <a:r>
              <a:rPr lang="es-ES" sz="1600" dirty="0"/>
              <a:t>   • Segmentar 217 países en 2 perfiles claros</a:t>
            </a:r>
          </a:p>
          <a:p>
            <a:pPr latinLnBrk="1"/>
            <a:r>
              <a:rPr lang="es-ES" sz="1600" dirty="0"/>
              <a:t>   • Descubrir que PIB bajo + pobreza alta → 6.4x riesgo</a:t>
            </a:r>
          </a:p>
          <a:p>
            <a:pPr latinLnBrk="1"/>
            <a:endParaRPr lang="es-ES" sz="1600" dirty="0"/>
          </a:p>
          <a:p>
            <a:pPr latinLnBrk="1"/>
            <a:r>
              <a:rPr lang="es-ES" sz="1600" dirty="0"/>
              <a:t>✅ El PIB per cápita es el factor clave a mejorar</a:t>
            </a:r>
          </a:p>
          <a:p>
            <a:pPr latinLnBrk="1"/>
            <a:endParaRPr lang="es-ES" sz="1600" dirty="0"/>
          </a:p>
          <a:p>
            <a:pPr latinLnBrk="1"/>
            <a:r>
              <a:rPr lang="es-ES" sz="1600" dirty="0"/>
              <a:t>✅ Las intervenciones deben ser diferenciadas por segmento</a:t>
            </a:r>
          </a:p>
          <a:p>
            <a:pPr latinLnBrk="1"/>
            <a:endParaRPr lang="es-ES" sz="1600" dirty="0"/>
          </a:p>
          <a:p>
            <a:pPr latinLnBrk="1"/>
            <a:r>
              <a:rPr lang="es-ES" sz="1600" dirty="0"/>
              <a:t>✅ Los datos están ahí: solo hay que saber extraerlos</a:t>
            </a:r>
          </a:p>
          <a:p>
            <a:endParaRPr lang="es-ES" dirty="0"/>
          </a:p>
        </p:txBody>
      </p:sp>
      <p:pic>
        <p:nvPicPr>
          <p:cNvPr id="11" name="ttsmaker-file-2026-9-17-22-13-17">
            <a:hlinkClick r:id="" action="ppaction://media"/>
            <a:extLst>
              <a:ext uri="{FF2B5EF4-FFF2-40B4-BE49-F238E27FC236}">
                <a16:creationId xmlns:a16="http://schemas.microsoft.com/office/drawing/2014/main" id="{E71134D4-1C53-0B8B-5762-95FD41E7C74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02799" y="5272004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73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284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58D07B-71A7-128A-12E3-090B257E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969" y="724184"/>
            <a:ext cx="5684520" cy="737734"/>
          </a:xfrm>
        </p:spPr>
        <p:txBody>
          <a:bodyPr>
            <a:normAutofit fontScale="90000"/>
          </a:bodyPr>
          <a:lstStyle/>
          <a:p>
            <a:r>
              <a:rPr lang="es-ES" b="0" dirty="0"/>
              <a:t>🚀 </a:t>
            </a:r>
            <a:r>
              <a:rPr lang="es-ES" b="0" dirty="0">
                <a:solidFill>
                  <a:schemeClr val="tx1"/>
                </a:solidFill>
              </a:rPr>
              <a:t>PRÓXIMOS PASOS</a:t>
            </a:r>
            <a:br>
              <a:rPr lang="es-ES" b="0" dirty="0"/>
            </a:b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252383-0EB5-A970-625A-DC48D25D7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s-ES" noProof="0"/>
              <a:t>29/7/20XX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47F5B0-6F18-6C0B-D506-0C60E4F9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s-ES" noProof="0"/>
              <a:t>Orientación de empleados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46885A4-5425-0F30-4655-74C0CF71A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B5CEABB6-07DC-46E8-9B57-56EC44A396E5}" type="slidenum">
              <a:rPr lang="es-ES" noProof="0" smtClean="0"/>
              <a:pPr rtl="0"/>
              <a:t>20</a:t>
            </a:fld>
            <a:endParaRPr lang="es-ES" noProof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6AC08AB-342A-14E8-6582-F5BF639B84C0}"/>
              </a:ext>
            </a:extLst>
          </p:cNvPr>
          <p:cNvSpPr txBox="1"/>
          <p:nvPr/>
        </p:nvSpPr>
        <p:spPr>
          <a:xfrm>
            <a:off x="443288" y="1257301"/>
            <a:ext cx="5231881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atinLnBrk="1"/>
            <a:r>
              <a:rPr lang="es-ES" dirty="0"/>
              <a:t>CORTO PLAZO (0-6 meses)</a:t>
            </a:r>
          </a:p>
          <a:p>
            <a:pPr latinLnBrk="1"/>
            <a:r>
              <a:rPr lang="es-ES" dirty="0"/>
              <a:t>→ Sistema de alerta temprana operativo</a:t>
            </a:r>
          </a:p>
          <a:p>
            <a:pPr latinLnBrk="1"/>
            <a:r>
              <a:rPr lang="es-ES" dirty="0"/>
              <a:t>→ Pipeline de actualización automática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MEDIO PLAZO (6-18 meses)</a:t>
            </a:r>
          </a:p>
          <a:p>
            <a:pPr latinLnBrk="1"/>
            <a:r>
              <a:rPr lang="es-ES" dirty="0"/>
              <a:t>→ Integración de nuevas fuentes (OMS, UNESCO)</a:t>
            </a:r>
          </a:p>
          <a:p>
            <a:pPr latinLnBrk="1"/>
            <a:r>
              <a:rPr lang="es-ES" dirty="0"/>
              <a:t>→ Modelos con series temporales (LSTM)</a:t>
            </a:r>
          </a:p>
          <a:p>
            <a:pPr latinLnBrk="1"/>
            <a:endParaRPr lang="es-ES" dirty="0"/>
          </a:p>
          <a:p>
            <a:pPr latinLnBrk="1"/>
            <a:r>
              <a:rPr lang="es-ES" dirty="0">
                <a:solidFill>
                  <a:schemeClr val="bg1"/>
                </a:solidFill>
              </a:rPr>
              <a:t>LARGO PLAZO (18-36 meses)</a:t>
            </a:r>
          </a:p>
          <a:p>
            <a:pPr latinLnBrk="1"/>
            <a:r>
              <a:rPr lang="es-ES" dirty="0">
                <a:solidFill>
                  <a:schemeClr val="bg1"/>
                </a:solidFill>
              </a:rPr>
              <a:t>→ Análisis causal avanzado</a:t>
            </a:r>
          </a:p>
          <a:p>
            <a:pPr latinLnBrk="1"/>
            <a:r>
              <a:rPr lang="es-ES" dirty="0">
                <a:solidFill>
                  <a:schemeClr val="bg1"/>
                </a:solidFill>
              </a:rPr>
              <a:t>→ </a:t>
            </a:r>
            <a:r>
              <a:rPr lang="es-ES" dirty="0" err="1">
                <a:solidFill>
                  <a:schemeClr val="bg1"/>
                </a:solidFill>
              </a:rPr>
              <a:t>Dashboard</a:t>
            </a:r>
            <a:r>
              <a:rPr lang="es-ES" dirty="0">
                <a:solidFill>
                  <a:schemeClr val="bg1"/>
                </a:solidFill>
              </a:rPr>
              <a:t> interactivo para responsables políticos</a:t>
            </a:r>
          </a:p>
          <a:p>
            <a:pPr latinLnBrk="1"/>
            <a:r>
              <a:rPr lang="es-ES" dirty="0">
                <a:solidFill>
                  <a:schemeClr val="bg1"/>
                </a:solidFill>
              </a:rPr>
              <a:t>→ Evaluación de impacto de intervenciones</a:t>
            </a:r>
          </a:p>
          <a:p>
            <a:endParaRPr lang="es-ES" dirty="0"/>
          </a:p>
        </p:txBody>
      </p:sp>
      <p:pic>
        <p:nvPicPr>
          <p:cNvPr id="9" name="ttsmaker-file-2026-9-17-22-15-55">
            <a:hlinkClick r:id="" action="ppaction://media"/>
            <a:extLst>
              <a:ext uri="{FF2B5EF4-FFF2-40B4-BE49-F238E27FC236}">
                <a16:creationId xmlns:a16="http://schemas.microsoft.com/office/drawing/2014/main" id="{A8ED096F-816E-279E-A0EE-31CFAA37614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381415" y="5735220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17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444" fill="hold"/>
                                        <p:tgtEl>
                                          <p:spTgt spid="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9"/>
                </p:tgtEl>
              </p:cMediaNode>
            </p:audio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CAEE93-8585-46D4-A7EC-F184E317CB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13571"/>
            <a:ext cx="4419600" cy="1659716"/>
          </a:xfrm>
        </p:spPr>
        <p:txBody>
          <a:bodyPr rtlCol="0"/>
          <a:lstStyle/>
          <a:p>
            <a:pPr rtl="0"/>
            <a:r>
              <a:rPr lang="es-ES" dirty="0"/>
              <a:t>Gracias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AFFC60-19C3-4901-93F7-7AAF4C09F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69242" y="1173080"/>
            <a:ext cx="5492416" cy="4656220"/>
          </a:xfrm>
        </p:spPr>
        <p:txBody>
          <a:bodyPr rtlCol="0">
            <a:normAutofit/>
          </a:bodyPr>
          <a:lstStyle/>
          <a:p>
            <a:pPr latinLnBrk="1"/>
            <a:r>
              <a:rPr lang="es-ES" dirty="0"/>
              <a:t>¡GRACIAS!</a:t>
            </a:r>
          </a:p>
          <a:p>
            <a:pPr latinLnBrk="1"/>
            <a:endParaRPr lang="es-ES" dirty="0"/>
          </a:p>
          <a:p>
            <a:pPr latinLnBrk="1"/>
            <a:r>
              <a:rPr lang="es-ES" dirty="0"/>
              <a:t>¿Preguntas?</a:t>
            </a:r>
          </a:p>
          <a:p>
            <a:pPr latinLnBrk="1"/>
            <a:endParaRPr lang="es-ES" dirty="0"/>
          </a:p>
          <a:p>
            <a:pPr latinLnBrk="1"/>
            <a:r>
              <a:rPr lang="es-ES" sz="1800" dirty="0"/>
              <a:t>📧 Contacto: jdthgp27</a:t>
            </a:r>
          </a:p>
          <a:p>
            <a:pPr latinLnBrk="1"/>
            <a:r>
              <a:rPr lang="es-ES" sz="1800" dirty="0"/>
              <a:t>🔗 GitHub: github.com/jdthgp27/Reto-4-Data-Mining-aplicado-a-Pobreza-Infantil</a:t>
            </a:r>
          </a:p>
          <a:p>
            <a:pPr latinLnBrk="1"/>
            <a:endParaRPr lang="es-ES" sz="1800" dirty="0"/>
          </a:p>
          <a:p>
            <a:pPr latinLnBrk="1"/>
            <a:r>
              <a:rPr lang="es-ES" sz="1800" dirty="0"/>
              <a:t>"Los datos están ahí, solo hay que saber extraerlos"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EE046113-1034-4F4B-8AED-98885E8F62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632857" cy="365125"/>
          </a:xfrm>
        </p:spPr>
        <p:txBody>
          <a:bodyPr rtlCol="0"/>
          <a:lstStyle/>
          <a:p>
            <a:pPr rtl="0"/>
            <a:r>
              <a:rPr lang="es-ES"/>
              <a:t>29/7/20XX</a:t>
            </a:r>
          </a:p>
        </p:txBody>
      </p:sp>
      <p:sp>
        <p:nvSpPr>
          <p:cNvPr id="11" name="Marcador de pie de página 10">
            <a:extLst>
              <a:ext uri="{FF2B5EF4-FFF2-40B4-BE49-F238E27FC236}">
                <a16:creationId xmlns:a16="http://schemas.microsoft.com/office/drawing/2014/main" id="{1BD5936D-597B-433D-BAF2-72206FECA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43200" y="6356350"/>
            <a:ext cx="2514600" cy="365125"/>
          </a:xfrm>
        </p:spPr>
        <p:txBody>
          <a:bodyPr rtlCol="0"/>
          <a:lstStyle/>
          <a:p>
            <a:pPr rtl="0"/>
            <a:r>
              <a:rPr lang="es-ES"/>
              <a:t>Orientación de empleados</a:t>
            </a:r>
          </a:p>
        </p:txBody>
      </p:sp>
      <p:sp>
        <p:nvSpPr>
          <p:cNvPr id="12" name="Marcador de número de diapositiva 11">
            <a:extLst>
              <a:ext uri="{FF2B5EF4-FFF2-40B4-BE49-F238E27FC236}">
                <a16:creationId xmlns:a16="http://schemas.microsoft.com/office/drawing/2014/main" id="{2257BCF9-933D-4329-B564-4E404B1CA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rtlCol="0"/>
          <a:lstStyle/>
          <a:p>
            <a:pPr rtl="0"/>
            <a:fld id="{B5CEABB6-07DC-46E8-9B57-56EC44A396E5}" type="slidenum">
              <a:rPr lang="es-ES" smtClean="0"/>
              <a:pPr rtl="0"/>
              <a:t>21</a:t>
            </a:fld>
            <a:endParaRPr lang="es-ES"/>
          </a:p>
        </p:txBody>
      </p:sp>
      <p:pic>
        <p:nvPicPr>
          <p:cNvPr id="4" name="ttsmaker-file-2026-9-17-22-14-29">
            <a:hlinkClick r:id="" action="ppaction://media"/>
            <a:extLst>
              <a:ext uri="{FF2B5EF4-FFF2-40B4-BE49-F238E27FC236}">
                <a16:creationId xmlns:a16="http://schemas.microsoft.com/office/drawing/2014/main" id="{A03B3B9F-80A2-B209-344A-FC8FF9AC2A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38200" y="5341937"/>
            <a:ext cx="487363" cy="487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29985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365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Personalizado">
  <a:themeElements>
    <a:clrScheme name="Custom 18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62A25D"/>
      </a:accent1>
      <a:accent2>
        <a:srgbClr val="A0DADE"/>
      </a:accent2>
      <a:accent3>
        <a:srgbClr val="CCB5E5"/>
      </a:accent3>
      <a:accent4>
        <a:srgbClr val="29285D"/>
      </a:accent4>
      <a:accent5>
        <a:srgbClr val="EDF1F2"/>
      </a:accent5>
      <a:accent6>
        <a:srgbClr val="70AD47"/>
      </a:accent6>
      <a:hlink>
        <a:srgbClr val="A0DADE"/>
      </a:hlink>
      <a:folHlink>
        <a:srgbClr val="954F72"/>
      </a:folHlink>
    </a:clrScheme>
    <a:fontScheme name="Custom 62">
      <a:majorFont>
        <a:latin typeface="Skeena"/>
        <a:ea typeface=""/>
        <a:cs typeface=""/>
      </a:majorFont>
      <a:minorFont>
        <a:latin typeface="Skee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9396277_TF03460514_Win32" id="{9A2976D9-D6A2-4C72-AA54-D6D4585DC826}" vid="{E979CFFE-0E1D-4C6F-8738-47AC19B53918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4F7154-AFAC-4BE7-8A74-7F4B6FC274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618C13B-9D83-4AF4-B64D-33362D5133F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7ACD96E-49A0-4DA4-A7BB-AC2D8874213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{9ED11DE5-6104-46AD-B710-1E159B8384E0}TFb86055d1-6a43-42b6-93a8-3e59ea4e3a709453dee2_win32-6946e27d80b6</Template>
  <TotalTime>124</TotalTime>
  <Words>1727</Words>
  <Application>Microsoft Office PowerPoint</Application>
  <PresentationFormat>Panorámica</PresentationFormat>
  <Paragraphs>330</Paragraphs>
  <Slides>21</Slides>
  <Notes>13</Notes>
  <HiddenSlides>0</HiddenSlides>
  <MMClips>20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7" baseType="lpstr">
      <vt:lpstr>Arial</vt:lpstr>
      <vt:lpstr>Calibri</vt:lpstr>
      <vt:lpstr>Menlo</vt:lpstr>
      <vt:lpstr>Skeena</vt:lpstr>
      <vt:lpstr>Times New Roman</vt:lpstr>
      <vt:lpstr>Personalizado</vt:lpstr>
      <vt:lpstr>🌍 Reto 4: Data Mining aplicado a la Pobreza Infantil</vt:lpstr>
      <vt:lpstr>Agenda</vt:lpstr>
      <vt:lpstr>🎯 Contexto y objetivo</vt:lpstr>
      <vt:lpstr>📊 Fuentes de datos utilizadas</vt:lpstr>
      <vt:lpstr>🔍 Diagnóstico del dataset</vt:lpstr>
      <vt:lpstr>🔧 Proceso de preparación de datos </vt:lpstr>
      <vt:lpstr>⚠️ Detección de "data leakage"</vt:lpstr>
      <vt:lpstr>🎯 TÉCNICA 1: CLASIFICACIÓN</vt:lpstr>
      <vt:lpstr>Importancia de variables</vt:lpstr>
      <vt:lpstr>🔵 TÉCNICA 2: CLUSTERING</vt:lpstr>
      <vt:lpstr>📍 Los 2 clusters identificados</vt:lpstr>
      <vt:lpstr>🔗 TÉCNICA 3: ASOCIACIÓN</vt:lpstr>
      <vt:lpstr>⭐ LA REGLA DE ORO DEL ANÁLISIS </vt:lpstr>
      <vt:lpstr>🔑 LOS 3 HALLAZGOS CLAVE </vt:lpstr>
      <vt:lpstr>💡 MEJORAS APLICABLES: FUENTES DE DATOS</vt:lpstr>
      <vt:lpstr>💡 MEJORAS APLICABLES: MODELO PREDICTIVO </vt:lpstr>
      <vt:lpstr>🏛️ RECOMENDACIONES DE POLÍTICA PÚBLICA </vt:lpstr>
      <vt:lpstr>📚 CONSEJOS PARA MEJORAR EL USO DE ESTADÍSTICAS </vt:lpstr>
      <vt:lpstr>🎯 CONCLUSIONES </vt:lpstr>
      <vt:lpstr>🚀 PRÓXIMOS PASOS 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Judit Giravent Pineda</dc:creator>
  <cp:lastModifiedBy>Judit Giravent Pineda</cp:lastModifiedBy>
  <cp:revision>4</cp:revision>
  <dcterms:created xsi:type="dcterms:W3CDTF">2026-09-17T18:11:52Z</dcterms:created>
  <dcterms:modified xsi:type="dcterms:W3CDTF">2026-09-17T20:16:09Z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